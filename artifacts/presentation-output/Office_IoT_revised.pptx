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6d4e9af443488f" /><Relationship Type="http://schemas.openxmlformats.org/officeDocument/2006/relationships/extended-properties" Target="/docProps/app.xml" Id="R235bbdfe002f4bd1" /><Relationship Type="http://schemas.openxmlformats.org/officeDocument/2006/relationships/officeDocument" Target="/ppt/presentation.xml" Id="R7449f49972b74326" /></Relationships>
</file>

<file path=ppt/presentation.xml><?xml version="1.0" encoding="utf-8"?>
<p:presentation xmlns:p="http://schemas.openxmlformats.org/presentationml/2006/main">
  <p:sldMasterIdLst>
    <p:sldMasterId xmlns:r="http://schemas.openxmlformats.org/officeDocument/2006/relationships" id="2147483648" r:id="Rb53a665ca45746de"/>
  </p:sldMasterIdLst>
  <p:notesMasterIdLst>
    <p:notesMasterId xmlns:r="http://schemas.openxmlformats.org/officeDocument/2006/relationships" r:id="R45e862818ffa44a8"/>
  </p:notesMasterIdLst>
  <p:sldIdLst>
    <p:sldId xmlns:r="http://schemas.openxmlformats.org/officeDocument/2006/relationships" id="256" r:id="R577e1bfc20eb4040"/>
    <p:sldId xmlns:r="http://schemas.openxmlformats.org/officeDocument/2006/relationships" id="257" r:id="R1dedb03eef2e40e5"/>
    <p:sldId xmlns:r="http://schemas.openxmlformats.org/officeDocument/2006/relationships" id="258" r:id="Ra7dc703e419443fa"/>
    <p:sldId xmlns:r="http://schemas.openxmlformats.org/officeDocument/2006/relationships" id="259" r:id="R2eac60453744477c"/>
    <p:sldId xmlns:r="http://schemas.openxmlformats.org/officeDocument/2006/relationships" id="260" r:id="R0458aff98973447d"/>
    <p:sldId xmlns:r="http://schemas.openxmlformats.org/officeDocument/2006/relationships" id="261" r:id="R909b0385910140df"/>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1e2a605c90f487c" /><Relationship Type="http://schemas.openxmlformats.org/officeDocument/2006/relationships/slideMaster" Target="/ppt/slideMasters/slideMaster1.xml" Id="Rb53a665ca45746de" /><Relationship Type="http://schemas.openxmlformats.org/officeDocument/2006/relationships/notesMaster" Target="/ppt/notesMasters/notesMaster1.xml" Id="R45e862818ffa44a8" /><Relationship Type="http://schemas.openxmlformats.org/officeDocument/2006/relationships/presProps" Target="/ppt/presProps.xml" Id="Rd825b284e9e54751" /><Relationship Type="http://schemas.openxmlformats.org/officeDocument/2006/relationships/viewProps" Target="/ppt/viewProps.xml" Id="Rb5bdd5a4701f4a8b" /><Relationship Type="http://schemas.openxmlformats.org/officeDocument/2006/relationships/tableStyles" Target="/ppt/tableStyles.xml" Id="R6859fb78bd244e20" /><Relationship Type="http://schemas.openxmlformats.org/officeDocument/2006/relationships/slide" Target="/ppt/slides/slide1.xml" Id="R577e1bfc20eb4040" /><Relationship Type="http://schemas.openxmlformats.org/officeDocument/2006/relationships/slide" Target="/ppt/slides/slide2.xml" Id="R1dedb03eef2e40e5" /><Relationship Type="http://schemas.openxmlformats.org/officeDocument/2006/relationships/slide" Target="/ppt/slides/slide3.xml" Id="Ra7dc703e419443fa" /><Relationship Type="http://schemas.openxmlformats.org/officeDocument/2006/relationships/slide" Target="/ppt/slides/slide4.xml" Id="R2eac60453744477c" /><Relationship Type="http://schemas.openxmlformats.org/officeDocument/2006/relationships/slide" Target="/ppt/slides/slide5.xml" Id="R0458aff98973447d" /><Relationship Type="http://schemas.openxmlformats.org/officeDocument/2006/relationships/slide" Target="/ppt/slides/slide6.xml" Id="R909b0385910140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b98cffebb94d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e03e75d7ff47f3" /><Relationship Type="http://schemas.openxmlformats.org/officeDocument/2006/relationships/notesMaster" Target="/ppt/notesMasters/notesMaster1.xml" Id="Rd39789939f2d4a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05aa42a4d44ab6" /><Relationship Type="http://schemas.openxmlformats.org/officeDocument/2006/relationships/notesMaster" Target="/ppt/notesMasters/notesMaster1.xml" Id="R947410197f704d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9faad118bd4a01" /><Relationship Type="http://schemas.openxmlformats.org/officeDocument/2006/relationships/notesMaster" Target="/ppt/notesMasters/notesMaster1.xml" Id="R6be08dca33de47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a9c91aa89f46a4" /><Relationship Type="http://schemas.openxmlformats.org/officeDocument/2006/relationships/notesMaster" Target="/ppt/notesMasters/notesMaster1.xml" Id="Rf9aa0889dc8e47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2ce861b57f4e81" /><Relationship Type="http://schemas.openxmlformats.org/officeDocument/2006/relationships/notesMaster" Target="/ppt/notesMasters/notesMaster1.xml" Id="R92fdc60ec89648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4178bb066f420b" /><Relationship Type="http://schemas.openxmlformats.org/officeDocument/2006/relationships/notesMaster" Target="/ppt/notesMasters/notesMaster1.xml" Id="R582d5b26d74347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Docker Compose defines office, office-gateway and a separately pinned Redis 7.0.11 container. The gateway exposes loopback 127.0.0.2, while services communicate on an internal Docker network. Docker Desktop on this PC uses WSL 2. Ports 2122, 2223 and 1446 provide comparison endpoints, although SMB signing must still be checked separately. Sources: C:/Users/aksha/Downloads/DE_Project/vulnassess-integration/labs/service_networks/compose.yaml and labs/</a:t>
            </a:r>
            <a:r>
              <a:t>service_networks</a:t>
            </a:r>
            <a:r>
              <a:t>/office.py.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saved assessment assessment-olcrd_yq, host 127.0.0.2. Five service-network policy findings: FTP authentication at TCP/2121, SMB authentication and signing at TCP/1445, SMB signing at TCP/1446, and the designated lab credential at SSH TCP/2222. There were also 16 nvd-cpe product/version candidates for Redis 7.0.11. CVE applicability depends on package/patch status, configuration and advisory prerequisites; it is not confirmed by a version match. Source: C:/Users/aksha/Downloads/DE_Project/vulnassess-integration/data/live/raw/assessment-olcrd_yq/case.json.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Docker Compose defines iot, iot-gateway and a separate Redis 7.0.12 container on an internal Docker network. MQTT uses aMQTT 0.11.4; SNMP uses PySNMP 7.1.30; Python cryptography supplies the training certificate. The gateway maps TCP and UDP ports onto host loopback 127.0.0.3. Comparison endpoints include MQTT 1884 and SNMP 1162. Sources: C:/Users/aksha/Downloads/DE_Project/vulnassess-integration/labs/service_networks/compose.yaml, labs/service_networks/iot.py and labs/service_networks/requirements.txt.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saved assessment assessment-4diydwjb, host 127.0.0.3. Four service-network findings: anonymous MQTT access at TCP/1883, SNMP public-community access at UDP/1161, expired TLS certificate at TCP/8883, and certificate-chain trust verification failure at the same TLS endpoint. The latter two are separate checks on one certificate, not two different endpoints. Fourteen NVD product/version candidates were recorded for Redis 7.0.12; package applicability and exploitability remain unverified. Source: C:/Users/aksha/Downloads/DE_Project/vulnassess-integration/data/live/raw/assessment-4diydwjb/case.json.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supplied in the original presentation. The left image shows the local lab interface; the right image shows the assessment results. CVE version matches shown in the results are candidates and require applicability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supplied in the original presentation. The left image shows the local lab interface; the right image shows the assessment results. CVE version matches shown in the results are candidates and require applicability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0c981c46174b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d2256a811b4d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efc2dec69d47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f31c8926e794d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b40c05a65b49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65ab1d10c14d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B1B432-D4E2-4A75-A869-21B18D9C0A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5DC5609B-3765-4DAD-ABC4-B411B77312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83B297-3A1E-4178-9D3E-8DD9A94FF6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E2EACE-86ED-4790-9B1D-7E8D3D586C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54F63AD7-A4B6-42B8-A7B0-9E32326E82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6392669-E3CE-4AEA-832D-13BB616D0C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C6834FE3-C380-4D82-A4BF-0137DAB894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E7C80E07-CD8D-460D-8FED-AB8501EA7B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B1FBF3-D710-4B1F-8E6F-90620BAEC1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3E34390E-8633-4A40-8CA9-A541C72A96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dd051f938544bc" /><Relationship Type="http://schemas.openxmlformats.org/officeDocument/2006/relationships/slideLayout" Target="/ppt/slideLayouts/slideLayout1.xml" Id="R8fb2b289cac94c92" /><Relationship Type="http://schemas.openxmlformats.org/officeDocument/2006/relationships/slideLayout" Target="/ppt/slideLayouts/slideLayout2.xml" Id="Rd991ae0d09b44c9c" /><Relationship Type="http://schemas.openxmlformats.org/officeDocument/2006/relationships/slideLayout" Target="/ppt/slideLayouts/slideLayout3.xml" Id="R13ca7cb9991c4abf" /><Relationship Type="http://schemas.openxmlformats.org/officeDocument/2006/relationships/slideLayout" Target="/ppt/slideLayouts/slideLayout4.xml" Id="Re50b7bf93b204738" /><Relationship Type="http://schemas.openxmlformats.org/officeDocument/2006/relationships/slideLayout" Target="/ppt/slideLayouts/slideLayout5.xml" Id="R48bcd2a8738e493b" /><Relationship Type="http://schemas.openxmlformats.org/officeDocument/2006/relationships/slideLayout" Target="/ppt/slideLayouts/slideLayout6.xml" Id="R6790e2552ccc40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b2b289cac94c92"/>
    <p:sldLayoutId xmlns:r="http://schemas.openxmlformats.org/officeDocument/2006/relationships" id="2147483650" r:id="Rd991ae0d09b44c9c"/>
    <p:sldLayoutId xmlns:r="http://schemas.openxmlformats.org/officeDocument/2006/relationships" id="2147483651" r:id="R13ca7cb9991c4abf"/>
    <p:sldLayoutId xmlns:r="http://schemas.openxmlformats.org/officeDocument/2006/relationships" id="2147483652" r:id="Re50b7bf93b204738"/>
    <p:sldLayoutId xmlns:r="http://schemas.openxmlformats.org/officeDocument/2006/relationships" id="2147483653" r:id="R48bcd2a8738e493b"/>
    <p:sldLayoutId xmlns:r="http://schemas.openxmlformats.org/officeDocument/2006/relationships" id="2147483654" r:id="R6790e2552ccc40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f7c48e1a744e03" /><Relationship Type="http://schemas.openxmlformats.org/officeDocument/2006/relationships/notesSlide" Target="/ppt/notesSlides/notesSlide1.xml" Id="R56aea274173d4b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59a37665d04035" /><Relationship Type="http://schemas.openxmlformats.org/officeDocument/2006/relationships/notesSlide" Target="/ppt/notesSlides/notesSlide2.xml" Id="Rb482239d5a6048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eebb03eb9f40fe" /><Relationship Type="http://schemas.openxmlformats.org/officeDocument/2006/relationships/notesSlide" Target="/ppt/notesSlides/notesSlide3.xml" Id="Rcf94f577cb3b45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7195cbfed2b401f" /><Relationship Type="http://schemas.openxmlformats.org/officeDocument/2006/relationships/notesSlide" Target="/ppt/notesSlides/notesSlide4.xml" Id="Rd62a9c2b51d54d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c7b84740cb4f41" /><Relationship Type="http://schemas.openxmlformats.org/officeDocument/2006/relationships/image" Target="/ppt/media/image.png" Id="R6a5fdd48f9fe4398" /><Relationship Type="http://schemas.openxmlformats.org/officeDocument/2006/relationships/image" Target="/ppt/media/image2.png" Id="R5bf760ad4071407c" /><Relationship Type="http://schemas.openxmlformats.org/officeDocument/2006/relationships/notesSlide" Target="/ppt/notesSlides/notesSlide5.xml" Id="Red2245b4db3d4e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6a04fd075143c8" /><Relationship Type="http://schemas.openxmlformats.org/officeDocument/2006/relationships/image" Target="/ppt/media/image3.png" Id="R742ef8544e524fd6" /><Relationship Type="http://schemas.openxmlformats.org/officeDocument/2006/relationships/image" Target="/ppt/media/image4.png" Id="Rb1c4497cdf56481d" /><Relationship Type="http://schemas.openxmlformats.org/officeDocument/2006/relationships/notesSlide" Target="/ppt/notesSlides/notesSlide6.xml" Id="Rb7471bb1553e4e0b"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604FFEA-1D35-452B-B173-42859CFEE8CF}"/>
              </a:ext>
            </a:extLst>
          </p:cNvPr>
          <p:cNvSpPr>
            <a:spLocks xmlns:a="http://schemas.openxmlformats.org/drawingml/2006/main" noGrp="1"/>
          </p:cNvSpPr>
          <p:nvPr/>
        </p:nvSpPr>
        <p:spPr>
          <a:xfrm xmlns:a="http://schemas.openxmlformats.org/drawingml/2006/main">
            <a:off x="628650" y="3524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125" b="1">
                <a:solidFill>
                  <a:srgbClr val="2458D7"/>
                </a:solidFill>
              </a:defRPr>
            </a:defPPr>
            <a:lvl1pPr>
              <a:buNone/>
              <a:defRPr sz="1125" b="1">
                <a:solidFill>
                  <a:srgbClr val="2458D7"/>
                </a:solidFill>
              </a:defRPr>
            </a:lvl1pPr>
            <a:lvl2pPr>
              <a:buNone/>
              <a:defRPr sz="1125" b="1">
                <a:solidFill>
                  <a:srgbClr val="2458D7"/>
                </a:solidFill>
              </a:defRPr>
            </a:lvl2pPr>
            <a:lvl3pPr>
              <a:buNone/>
              <a:defRPr sz="1125" b="1">
                <a:solidFill>
                  <a:srgbClr val="2458D7"/>
                </a:solidFill>
              </a:defRPr>
            </a:lvl3pPr>
            <a:lvl4pPr>
              <a:buNone/>
              <a:defRPr sz="1125" b="1">
                <a:solidFill>
                  <a:srgbClr val="2458D7"/>
                </a:solidFill>
              </a:defRPr>
            </a:lvl4pPr>
            <a:lvl5pPr>
              <a:buNone/>
              <a:defRPr sz="1125" b="1">
                <a:solidFill>
                  <a:srgbClr val="2458D7"/>
                </a:solidFill>
              </a:defRPr>
            </a:lvl5pPr>
            <a:lvl6pPr>
              <a:buNone/>
              <a:defRPr sz="1125" b="1">
                <a:solidFill>
                  <a:srgbClr val="2458D7"/>
                </a:solidFill>
              </a:defRPr>
            </a:lvl6pPr>
            <a:lvl7pPr>
              <a:buNone/>
              <a:defRPr sz="1125" b="1">
                <a:solidFill>
                  <a:srgbClr val="2458D7"/>
                </a:solidFill>
              </a:defRPr>
            </a:lvl7pPr>
            <a:lvl8pPr>
              <a:buNone/>
              <a:defRPr sz="1125" b="1">
                <a:solidFill>
                  <a:srgbClr val="2458D7"/>
                </a:solidFill>
              </a:defRPr>
            </a:lvl8pPr>
            <a:lvl9pPr>
              <a:buNone/>
              <a:defRPr sz="1125" b="1">
                <a:solidFill>
                  <a:srgbClr val="2458D7"/>
                </a:solidFill>
              </a:defRPr>
            </a:lvl9pPr>
          </a:lstStyle>
          <a:p xmlns:a="http://schemas.openxmlformats.org/drawingml/2006/main">
            <a:pPr>
              <a:buNone/>
              <a:defRPr sz="1125" b="1">
                <a:solidFill>
                  <a:srgbClr val="2458D7"/>
                </a:solidFill>
              </a:defRPr>
            </a:pPr>
            <a:r>
              <a:rPr sz="1125" b="1">
                <a:solidFill>
                  <a:srgbClr val="2458D7"/>
                </a:solidFill>
              </a:rPr>
              <a:t>OFFICE ENVIRONMENT</a:t>
            </a:r>
          </a:p>
        </p:txBody>
      </p:sp>
      <p:sp>
        <p:nvSpPr>
          <p:cNvPr id="3" name="Rectangle 2">
            <a:extLst xmlns:a="http://schemas.openxmlformats.org/drawingml/2006/main">
              <a:ext uri="{FF2B5EF4-FFF2-40B4-BE49-F238E27FC236}">
                <a16:creationId xmlns:a16="http://schemas.microsoft.com/office/drawing/2014/main" id="{41005E56-2C6B-4731-B678-C746B3BCCF3E}"/>
              </a:ext>
            </a:extLst>
          </p:cNvPr>
          <p:cNvSpPr>
            <a:spLocks xmlns:a="http://schemas.openxmlformats.org/drawingml/2006/main" noGrp="1"/>
          </p:cNvSpPr>
          <p:nvPr/>
        </p:nvSpPr>
        <p:spPr>
          <a:xfrm xmlns:a="http://schemas.openxmlformats.org/drawingml/2006/main">
            <a:off x="628650" y="714375"/>
            <a:ext cx="10858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850" b="1">
                <a:solidFill>
                  <a:srgbClr val="10203A"/>
                </a:solidFill>
              </a:defRPr>
            </a:defPPr>
            <a:lvl1pPr>
              <a:buNone/>
              <a:defRPr sz="2850" b="1">
                <a:solidFill>
                  <a:srgbClr val="10203A"/>
                </a:solidFill>
              </a:defRPr>
            </a:lvl1pPr>
            <a:lvl2pPr>
              <a:buNone/>
              <a:defRPr sz="2850" b="1">
                <a:solidFill>
                  <a:srgbClr val="10203A"/>
                </a:solidFill>
              </a:defRPr>
            </a:lvl2pPr>
            <a:lvl3pPr>
              <a:buNone/>
              <a:defRPr sz="2850" b="1">
                <a:solidFill>
                  <a:srgbClr val="10203A"/>
                </a:solidFill>
              </a:defRPr>
            </a:lvl3pPr>
            <a:lvl4pPr>
              <a:buNone/>
              <a:defRPr sz="2850" b="1">
                <a:solidFill>
                  <a:srgbClr val="10203A"/>
                </a:solidFill>
              </a:defRPr>
            </a:lvl4pPr>
            <a:lvl5pPr>
              <a:buNone/>
              <a:defRPr sz="2850" b="1">
                <a:solidFill>
                  <a:srgbClr val="10203A"/>
                </a:solidFill>
              </a:defRPr>
            </a:lvl5pPr>
            <a:lvl6pPr>
              <a:buNone/>
              <a:defRPr sz="2850" b="1">
                <a:solidFill>
                  <a:srgbClr val="10203A"/>
                </a:solidFill>
              </a:defRPr>
            </a:lvl6pPr>
            <a:lvl7pPr>
              <a:buNone/>
              <a:defRPr sz="2850" b="1">
                <a:solidFill>
                  <a:srgbClr val="10203A"/>
                </a:solidFill>
              </a:defRPr>
            </a:lvl7pPr>
            <a:lvl8pPr>
              <a:buNone/>
              <a:defRPr sz="2850" b="1">
                <a:solidFill>
                  <a:srgbClr val="10203A"/>
                </a:solidFill>
              </a:defRPr>
            </a:lvl8pPr>
            <a:lvl9pPr>
              <a:buNone/>
              <a:defRPr sz="2850" b="1">
                <a:solidFill>
                  <a:srgbClr val="10203A"/>
                </a:solidFill>
              </a:defRPr>
            </a:lvl9pPr>
          </a:lstStyle>
          <a:p xmlns:a="http://schemas.openxmlformats.org/drawingml/2006/main">
            <a:pPr>
              <a:buNone/>
              <a:defRPr sz="2850" b="1">
                <a:solidFill>
                  <a:srgbClr val="10203A"/>
                </a:solidFill>
              </a:defRPr>
            </a:pPr>
            <a:r>
              <a:rPr sz="2850" b="1">
                <a:solidFill>
                  <a:srgbClr val="10203A"/>
                </a:solidFill>
              </a:rPr>
              <a:t>Office network lab</a:t>
            </a:r>
          </a:p>
        </p:txBody>
      </p:sp>
      <p:sp>
        <p:nvSpPr>
          <p:cNvPr id="4" name="Rectangle 3">
            <a:extLst xmlns:a="http://schemas.openxmlformats.org/drawingml/2006/main">
              <a:ext uri="{FF2B5EF4-FFF2-40B4-BE49-F238E27FC236}">
                <a16:creationId xmlns:a16="http://schemas.microsoft.com/office/drawing/2014/main" id="{EDED8A02-8B44-4C22-9E43-A3FA0010AA20}"/>
              </a:ext>
            </a:extLst>
          </p:cNvPr>
          <p:cNvSpPr>
            <a:spLocks xmlns:a="http://schemas.openxmlformats.org/drawingml/2006/main" noGrp="1"/>
          </p:cNvSpPr>
          <p:nvPr/>
        </p:nvSpPr>
        <p:spPr>
          <a:xfrm xmlns:a="http://schemas.openxmlformats.org/drawingml/2006/main">
            <a:off x="628650" y="64579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65738A"/>
                </a:solidFill>
              </a:defRPr>
            </a:defPPr>
            <a:lvl1pPr>
              <a:buNone/>
              <a:defRPr sz="975" b="0">
                <a:solidFill>
                  <a:srgbClr val="65738A"/>
                </a:solidFill>
              </a:defRPr>
            </a:lvl1pPr>
            <a:lvl2pPr>
              <a:buNone/>
              <a:defRPr sz="975" b="0">
                <a:solidFill>
                  <a:srgbClr val="65738A"/>
                </a:solidFill>
              </a:defRPr>
            </a:lvl2pPr>
            <a:lvl3pPr>
              <a:buNone/>
              <a:defRPr sz="975" b="0">
                <a:solidFill>
                  <a:srgbClr val="65738A"/>
                </a:solidFill>
              </a:defRPr>
            </a:lvl3pPr>
            <a:lvl4pPr>
              <a:buNone/>
              <a:defRPr sz="975" b="0">
                <a:solidFill>
                  <a:srgbClr val="65738A"/>
                </a:solidFill>
              </a:defRPr>
            </a:lvl4pPr>
            <a:lvl5pPr>
              <a:buNone/>
              <a:defRPr sz="975" b="0">
                <a:solidFill>
                  <a:srgbClr val="65738A"/>
                </a:solidFill>
              </a:defRPr>
            </a:lvl5pPr>
            <a:lvl6pPr>
              <a:buNone/>
              <a:defRPr sz="975" b="0">
                <a:solidFill>
                  <a:srgbClr val="65738A"/>
                </a:solidFill>
              </a:defRPr>
            </a:lvl6pPr>
            <a:lvl7pPr>
              <a:buNone/>
              <a:defRPr sz="975" b="0">
                <a:solidFill>
                  <a:srgbClr val="65738A"/>
                </a:solidFill>
              </a:defRPr>
            </a:lvl7pPr>
            <a:lvl8pPr>
              <a:buNone/>
              <a:defRPr sz="975" b="0">
                <a:solidFill>
                  <a:srgbClr val="65738A"/>
                </a:solidFill>
              </a:defRPr>
            </a:lvl8pPr>
            <a:lvl9pPr>
              <a:buNone/>
              <a:defRPr sz="975" b="0">
                <a:solidFill>
                  <a:srgbClr val="65738A"/>
                </a:solidFill>
              </a:defRPr>
            </a:lvl9pPr>
          </a:lstStyle>
          <a:p xmlns:a="http://schemas.openxmlformats.org/drawingml/2006/main">
            <a:pPr>
              <a:buNone/>
              <a:defRPr sz="975" b="0">
                <a:solidFill>
                  <a:srgbClr val="65738A"/>
                </a:solidFill>
              </a:defRPr>
            </a:pPr>
            <a:r>
              <a:rPr sz="975" b="0">
                <a:solidFill>
                  <a:srgbClr val="65738A"/>
                </a:solidFill>
              </a:rPr>
              <a:t>VulnAssess  /  Network environments</a:t>
            </a:r>
          </a:p>
        </p:txBody>
      </p:sp>
      <p:sp>
        <p:nvSpPr>
          <p:cNvPr id="5" name="Rectangle 4">
            <a:extLst xmlns:a="http://schemas.openxmlformats.org/drawingml/2006/main">
              <a:ext uri="{FF2B5EF4-FFF2-40B4-BE49-F238E27FC236}">
                <a16:creationId xmlns:a16="http://schemas.microsoft.com/office/drawing/2014/main" id="{BFF9D8D9-CA3D-472A-8705-FEC2A2AD7377}"/>
              </a:ext>
            </a:extLst>
          </p:cNvPr>
          <p:cNvSpPr>
            <a:spLocks xmlns:a="http://schemas.openxmlformats.org/drawingml/2006/main" noGrp="1"/>
          </p:cNvSpPr>
          <p:nvPr/>
        </p:nvSpPr>
        <p:spPr>
          <a:xfrm xmlns:a="http://schemas.openxmlformats.org/drawingml/2006/main">
            <a:off x="11049000" y="64484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1">
                <a:solidFill>
                  <a:srgbClr val="65738A"/>
                </a:solidFill>
              </a:defRPr>
            </a:defPPr>
            <a:lvl1pPr>
              <a:buNone/>
              <a:defRPr sz="975" b="1">
                <a:solidFill>
                  <a:srgbClr val="65738A"/>
                </a:solidFill>
              </a:defRPr>
            </a:lvl1pPr>
            <a:lvl2pPr>
              <a:buNone/>
              <a:defRPr sz="975" b="1">
                <a:solidFill>
                  <a:srgbClr val="65738A"/>
                </a:solidFill>
              </a:defRPr>
            </a:lvl2pPr>
            <a:lvl3pPr>
              <a:buNone/>
              <a:defRPr sz="975" b="1">
                <a:solidFill>
                  <a:srgbClr val="65738A"/>
                </a:solidFill>
              </a:defRPr>
            </a:lvl3pPr>
            <a:lvl4pPr>
              <a:buNone/>
              <a:defRPr sz="975" b="1">
                <a:solidFill>
                  <a:srgbClr val="65738A"/>
                </a:solidFill>
              </a:defRPr>
            </a:lvl4pPr>
            <a:lvl5pPr>
              <a:buNone/>
              <a:defRPr sz="975" b="1">
                <a:solidFill>
                  <a:srgbClr val="65738A"/>
                </a:solidFill>
              </a:defRPr>
            </a:lvl5pPr>
            <a:lvl6pPr>
              <a:buNone/>
              <a:defRPr sz="975" b="1">
                <a:solidFill>
                  <a:srgbClr val="65738A"/>
                </a:solidFill>
              </a:defRPr>
            </a:lvl6pPr>
            <a:lvl7pPr>
              <a:buNone/>
              <a:defRPr sz="975" b="1">
                <a:solidFill>
                  <a:srgbClr val="65738A"/>
                </a:solidFill>
              </a:defRPr>
            </a:lvl7pPr>
            <a:lvl8pPr>
              <a:buNone/>
              <a:defRPr sz="975" b="1">
                <a:solidFill>
                  <a:srgbClr val="65738A"/>
                </a:solidFill>
              </a:defRPr>
            </a:lvl8pPr>
            <a:lvl9pPr>
              <a:buNone/>
              <a:defRPr sz="975" b="1">
                <a:solidFill>
                  <a:srgbClr val="65738A"/>
                </a:solidFill>
              </a:defRPr>
            </a:lvl9pPr>
          </a:lstStyle>
          <a:p xmlns:a="http://schemas.openxmlformats.org/drawingml/2006/main">
            <a:pPr>
              <a:buNone/>
              <a:defRPr sz="975" b="1">
                <a:solidFill>
                  <a:srgbClr val="65738A"/>
                </a:solidFill>
              </a:defRPr>
            </a:pPr>
            <a:r>
              <a:rPr sz="975" b="1">
                <a:solidFill>
                  <a:srgbClr val="65738A"/>
                </a:solidFill>
              </a:rPr>
              <a:t>01</a:t>
            </a:r>
          </a:p>
        </p:txBody>
      </p:sp>
      <p:sp>
        <p:nvSpPr>
          <p:cNvPr id="6" name="Rectangle 5">
            <a:extLst xmlns:a="http://schemas.openxmlformats.org/drawingml/2006/main">
              <a:ext uri="{FF2B5EF4-FFF2-40B4-BE49-F238E27FC236}">
                <a16:creationId xmlns:a16="http://schemas.microsoft.com/office/drawing/2014/main" id="{756BA05B-2236-4E0C-BA6E-9328112753FB}"/>
              </a:ext>
            </a:extLst>
          </p:cNvPr>
          <p:cNvSpPr>
            <a:spLocks xmlns:a="http://schemas.openxmlformats.org/drawingml/2006/main" noGrp="1"/>
          </p:cNvSpPr>
          <p:nvPr/>
        </p:nvSpPr>
        <p:spPr>
          <a:xfrm xmlns:a="http://schemas.openxmlformats.org/drawingml/2006/main">
            <a:off x="666750" y="1466850"/>
            <a:ext cx="714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0">
                <a:solidFill>
                  <a:srgbClr val="34455C"/>
                </a:solidFill>
              </a:defRPr>
            </a:defPPr>
            <a:lvl1pPr>
              <a:buNone/>
              <a:defRPr sz="1800" b="0">
                <a:solidFill>
                  <a:srgbClr val="34455C"/>
                </a:solidFill>
              </a:defRPr>
            </a:lvl1pPr>
            <a:lvl2pPr>
              <a:buNone/>
              <a:defRPr sz="1800" b="0">
                <a:solidFill>
                  <a:srgbClr val="34455C"/>
                </a:solidFill>
              </a:defRPr>
            </a:lvl2pPr>
            <a:lvl3pPr>
              <a:buNone/>
              <a:defRPr sz="1800" b="0">
                <a:solidFill>
                  <a:srgbClr val="34455C"/>
                </a:solidFill>
              </a:defRPr>
            </a:lvl3pPr>
            <a:lvl4pPr>
              <a:buNone/>
              <a:defRPr sz="1800" b="0">
                <a:solidFill>
                  <a:srgbClr val="34455C"/>
                </a:solidFill>
              </a:defRPr>
            </a:lvl4pPr>
            <a:lvl5pPr>
              <a:buNone/>
              <a:defRPr sz="1800" b="0">
                <a:solidFill>
                  <a:srgbClr val="34455C"/>
                </a:solidFill>
              </a:defRPr>
            </a:lvl5pPr>
            <a:lvl6pPr>
              <a:buNone/>
              <a:defRPr sz="1800" b="0">
                <a:solidFill>
                  <a:srgbClr val="34455C"/>
                </a:solidFill>
              </a:defRPr>
            </a:lvl6pPr>
            <a:lvl7pPr>
              <a:buNone/>
              <a:defRPr sz="1800" b="0">
                <a:solidFill>
                  <a:srgbClr val="34455C"/>
                </a:solidFill>
              </a:defRPr>
            </a:lvl7pPr>
            <a:lvl8pPr>
              <a:buNone/>
              <a:defRPr sz="1800" b="0">
                <a:solidFill>
                  <a:srgbClr val="34455C"/>
                </a:solidFill>
              </a:defRPr>
            </a:lvl8pPr>
            <a:lvl9pPr>
              <a:buNone/>
              <a:defRPr sz="1800" b="0">
                <a:solidFill>
                  <a:srgbClr val="34455C"/>
                </a:solidFill>
              </a:defRPr>
            </a:lvl9pPr>
          </a:lstStyle>
          <a:p xmlns:a="http://schemas.openxmlformats.org/drawingml/2006/main">
            <a:pPr>
              <a:buNone/>
              <a:defRPr sz="1800" b="0">
                <a:solidFill>
                  <a:srgbClr val="34455C"/>
                </a:solidFill>
              </a:defRPr>
            </a:pPr>
            <a:r>
              <a:rPr sz="1800" b="0">
                <a:solidFill>
                  <a:srgbClr val="34455C"/>
                </a:solidFill>
              </a:rPr>
              <a:t>A simulated workplace with real network services</a:t>
            </a:r>
          </a:p>
        </p:txBody>
      </p:sp>
      <p:sp>
        <p:nvSpPr>
          <p:cNvPr id="7" name="Rectangle 6">
            <a:extLst xmlns:a="http://schemas.openxmlformats.org/drawingml/2006/main">
              <a:ext uri="{FF2B5EF4-FFF2-40B4-BE49-F238E27FC236}">
                <a16:creationId xmlns:a16="http://schemas.microsoft.com/office/drawing/2014/main" id="{420A135A-01B0-4A57-B3BC-C838C8B76AB7}"/>
              </a:ext>
            </a:extLst>
          </p:cNvPr>
          <p:cNvSpPr>
            <a:spLocks xmlns:a="http://schemas.openxmlformats.org/drawingml/2006/main" noGrp="1"/>
          </p:cNvSpPr>
          <p:nvPr/>
        </p:nvSpPr>
        <p:spPr>
          <a:xfrm xmlns:a="http://schemas.openxmlformats.org/drawingml/2006/main">
            <a:off x="666750" y="211455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10203A"/>
                </a:solidFill>
              </a:defRPr>
            </a:defPPr>
            <a:lvl1pPr>
              <a:buNone/>
              <a:defRPr sz="1725" b="1">
                <a:solidFill>
                  <a:srgbClr val="10203A"/>
                </a:solidFill>
              </a:defRPr>
            </a:lvl1pPr>
            <a:lvl2pPr>
              <a:buNone/>
              <a:defRPr sz="1725" b="1">
                <a:solidFill>
                  <a:srgbClr val="10203A"/>
                </a:solidFill>
              </a:defRPr>
            </a:lvl2pPr>
            <a:lvl3pPr>
              <a:buNone/>
              <a:defRPr sz="1725" b="1">
                <a:solidFill>
                  <a:srgbClr val="10203A"/>
                </a:solidFill>
              </a:defRPr>
            </a:lvl3pPr>
            <a:lvl4pPr>
              <a:buNone/>
              <a:defRPr sz="1725" b="1">
                <a:solidFill>
                  <a:srgbClr val="10203A"/>
                </a:solidFill>
              </a:defRPr>
            </a:lvl4pPr>
            <a:lvl5pPr>
              <a:buNone/>
              <a:defRPr sz="1725" b="1">
                <a:solidFill>
                  <a:srgbClr val="10203A"/>
                </a:solidFill>
              </a:defRPr>
            </a:lvl5pPr>
            <a:lvl6pPr>
              <a:buNone/>
              <a:defRPr sz="1725" b="1">
                <a:solidFill>
                  <a:srgbClr val="10203A"/>
                </a:solidFill>
              </a:defRPr>
            </a:lvl6pPr>
            <a:lvl7pPr>
              <a:buNone/>
              <a:defRPr sz="1725" b="1">
                <a:solidFill>
                  <a:srgbClr val="10203A"/>
                </a:solidFill>
              </a:defRPr>
            </a:lvl7pPr>
            <a:lvl8pPr>
              <a:buNone/>
              <a:defRPr sz="1725" b="1">
                <a:solidFill>
                  <a:srgbClr val="10203A"/>
                </a:solidFill>
              </a:defRPr>
            </a:lvl8pPr>
            <a:lvl9pPr>
              <a:buNone/>
              <a:defRPr sz="1725" b="1">
                <a:solidFill>
                  <a:srgbClr val="10203A"/>
                </a:solidFill>
              </a:defRPr>
            </a:lvl9pPr>
          </a:lstStyle>
          <a:p xmlns:a="http://schemas.openxmlformats.org/drawingml/2006/main">
            <a:pPr>
              <a:buNone/>
              <a:defRPr sz="1725" b="1">
                <a:solidFill>
                  <a:srgbClr val="10203A"/>
                </a:solidFill>
              </a:defRPr>
            </a:pPr>
            <a:r>
              <a:rPr sz="1725" b="1">
                <a:solidFill>
                  <a:srgbClr val="10203A"/>
                </a:solidFill>
              </a:rPr>
              <a:t>File access</a:t>
            </a:r>
          </a:p>
        </p:txBody>
      </p:sp>
      <p:sp>
        <p:nvSpPr>
          <p:cNvPr id="8" name="Rectangle 7">
            <a:extLst xmlns:a="http://schemas.openxmlformats.org/drawingml/2006/main">
              <a:ext uri="{FF2B5EF4-FFF2-40B4-BE49-F238E27FC236}">
                <a16:creationId xmlns:a16="http://schemas.microsoft.com/office/drawing/2014/main" id="{F763CD6A-C6AB-451C-B660-EF0AF3EB792B}"/>
              </a:ext>
            </a:extLst>
          </p:cNvPr>
          <p:cNvSpPr>
            <a:spLocks xmlns:a="http://schemas.openxmlformats.org/drawingml/2006/main" noGrp="1"/>
          </p:cNvSpPr>
          <p:nvPr/>
        </p:nvSpPr>
        <p:spPr>
          <a:xfrm xmlns:a="http://schemas.openxmlformats.org/drawingml/2006/main">
            <a:off x="2714625" y="211455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FTP file transfer and SMB file sharing</a:t>
            </a:r>
          </a:p>
        </p:txBody>
      </p:sp>
      <p:sp>
        <p:nvSpPr>
          <p:cNvPr id="9" name="Rectangle 8">
            <a:extLst xmlns:a="http://schemas.openxmlformats.org/drawingml/2006/main">
              <a:ext uri="{FF2B5EF4-FFF2-40B4-BE49-F238E27FC236}">
                <a16:creationId xmlns:a16="http://schemas.microsoft.com/office/drawing/2014/main" id="{891AA5F0-BC6B-4479-803C-905CA9DCEE65}"/>
              </a:ext>
            </a:extLst>
          </p:cNvPr>
          <p:cNvSpPr>
            <a:spLocks xmlns:a="http://schemas.openxmlformats.org/drawingml/2006/main" noGrp="1"/>
          </p:cNvSpPr>
          <p:nvPr/>
        </p:nvSpPr>
        <p:spPr>
          <a:xfrm xmlns:a="http://schemas.openxmlformats.org/drawingml/2006/main">
            <a:off x="666750" y="266700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10203A"/>
                </a:solidFill>
              </a:defRPr>
            </a:defPPr>
            <a:lvl1pPr>
              <a:buNone/>
              <a:defRPr sz="1725" b="1">
                <a:solidFill>
                  <a:srgbClr val="10203A"/>
                </a:solidFill>
              </a:defRPr>
            </a:lvl1pPr>
            <a:lvl2pPr>
              <a:buNone/>
              <a:defRPr sz="1725" b="1">
                <a:solidFill>
                  <a:srgbClr val="10203A"/>
                </a:solidFill>
              </a:defRPr>
            </a:lvl2pPr>
            <a:lvl3pPr>
              <a:buNone/>
              <a:defRPr sz="1725" b="1">
                <a:solidFill>
                  <a:srgbClr val="10203A"/>
                </a:solidFill>
              </a:defRPr>
            </a:lvl3pPr>
            <a:lvl4pPr>
              <a:buNone/>
              <a:defRPr sz="1725" b="1">
                <a:solidFill>
                  <a:srgbClr val="10203A"/>
                </a:solidFill>
              </a:defRPr>
            </a:lvl4pPr>
            <a:lvl5pPr>
              <a:buNone/>
              <a:defRPr sz="1725" b="1">
                <a:solidFill>
                  <a:srgbClr val="10203A"/>
                </a:solidFill>
              </a:defRPr>
            </a:lvl5pPr>
            <a:lvl6pPr>
              <a:buNone/>
              <a:defRPr sz="1725" b="1">
                <a:solidFill>
                  <a:srgbClr val="10203A"/>
                </a:solidFill>
              </a:defRPr>
            </a:lvl6pPr>
            <a:lvl7pPr>
              <a:buNone/>
              <a:defRPr sz="1725" b="1">
                <a:solidFill>
                  <a:srgbClr val="10203A"/>
                </a:solidFill>
              </a:defRPr>
            </a:lvl7pPr>
            <a:lvl8pPr>
              <a:buNone/>
              <a:defRPr sz="1725" b="1">
                <a:solidFill>
                  <a:srgbClr val="10203A"/>
                </a:solidFill>
              </a:defRPr>
            </a:lvl8pPr>
            <a:lvl9pPr>
              <a:buNone/>
              <a:defRPr sz="1725" b="1">
                <a:solidFill>
                  <a:srgbClr val="10203A"/>
                </a:solidFill>
              </a:defRPr>
            </a:lvl9pPr>
          </a:lstStyle>
          <a:p xmlns:a="http://schemas.openxmlformats.org/drawingml/2006/main">
            <a:pPr>
              <a:buNone/>
              <a:defRPr sz="1725" b="1">
                <a:solidFill>
                  <a:srgbClr val="10203A"/>
                </a:solidFill>
              </a:defRPr>
            </a:pPr>
            <a:r>
              <a:rPr sz="1725" b="1">
                <a:solidFill>
                  <a:srgbClr val="10203A"/>
                </a:solidFill>
              </a:rPr>
              <a:t>Remote access</a:t>
            </a:r>
          </a:p>
        </p:txBody>
      </p:sp>
      <p:sp>
        <p:nvSpPr>
          <p:cNvPr id="10" name="Rectangle 9">
            <a:extLst xmlns:a="http://schemas.openxmlformats.org/drawingml/2006/main">
              <a:ext uri="{FF2B5EF4-FFF2-40B4-BE49-F238E27FC236}">
                <a16:creationId xmlns:a16="http://schemas.microsoft.com/office/drawing/2014/main" id="{01E290F4-F362-498F-BAF6-8C33C29188DB}"/>
              </a:ext>
            </a:extLst>
          </p:cNvPr>
          <p:cNvSpPr>
            <a:spLocks xmlns:a="http://schemas.openxmlformats.org/drawingml/2006/main" noGrp="1"/>
          </p:cNvSpPr>
          <p:nvPr/>
        </p:nvSpPr>
        <p:spPr>
          <a:xfrm xmlns:a="http://schemas.openxmlformats.org/drawingml/2006/main">
            <a:off x="2714625" y="266700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SSH login and credential checks</a:t>
            </a:r>
          </a:p>
        </p:txBody>
      </p:sp>
      <p:sp>
        <p:nvSpPr>
          <p:cNvPr id="11" name="Rectangle 10">
            <a:extLst xmlns:a="http://schemas.openxmlformats.org/drawingml/2006/main">
              <a:ext uri="{FF2B5EF4-FFF2-40B4-BE49-F238E27FC236}">
                <a16:creationId xmlns:a16="http://schemas.microsoft.com/office/drawing/2014/main" id="{058B4647-B7F5-4493-8F94-69E7A7C298F0}"/>
              </a:ext>
            </a:extLst>
          </p:cNvPr>
          <p:cNvSpPr>
            <a:spLocks xmlns:a="http://schemas.openxmlformats.org/drawingml/2006/main" noGrp="1"/>
          </p:cNvSpPr>
          <p:nvPr/>
        </p:nvSpPr>
        <p:spPr>
          <a:xfrm xmlns:a="http://schemas.openxmlformats.org/drawingml/2006/main">
            <a:off x="666750" y="321945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10203A"/>
                </a:solidFill>
              </a:defRPr>
            </a:defPPr>
            <a:lvl1pPr>
              <a:buNone/>
              <a:defRPr sz="1725" b="1">
                <a:solidFill>
                  <a:srgbClr val="10203A"/>
                </a:solidFill>
              </a:defRPr>
            </a:lvl1pPr>
            <a:lvl2pPr>
              <a:buNone/>
              <a:defRPr sz="1725" b="1">
                <a:solidFill>
                  <a:srgbClr val="10203A"/>
                </a:solidFill>
              </a:defRPr>
            </a:lvl2pPr>
            <a:lvl3pPr>
              <a:buNone/>
              <a:defRPr sz="1725" b="1">
                <a:solidFill>
                  <a:srgbClr val="10203A"/>
                </a:solidFill>
              </a:defRPr>
            </a:lvl3pPr>
            <a:lvl4pPr>
              <a:buNone/>
              <a:defRPr sz="1725" b="1">
                <a:solidFill>
                  <a:srgbClr val="10203A"/>
                </a:solidFill>
              </a:defRPr>
            </a:lvl4pPr>
            <a:lvl5pPr>
              <a:buNone/>
              <a:defRPr sz="1725" b="1">
                <a:solidFill>
                  <a:srgbClr val="10203A"/>
                </a:solidFill>
              </a:defRPr>
            </a:lvl5pPr>
            <a:lvl6pPr>
              <a:buNone/>
              <a:defRPr sz="1725" b="1">
                <a:solidFill>
                  <a:srgbClr val="10203A"/>
                </a:solidFill>
              </a:defRPr>
            </a:lvl6pPr>
            <a:lvl7pPr>
              <a:buNone/>
              <a:defRPr sz="1725" b="1">
                <a:solidFill>
                  <a:srgbClr val="10203A"/>
                </a:solidFill>
              </a:defRPr>
            </a:lvl7pPr>
            <a:lvl8pPr>
              <a:buNone/>
              <a:defRPr sz="1725" b="1">
                <a:solidFill>
                  <a:srgbClr val="10203A"/>
                </a:solidFill>
              </a:defRPr>
            </a:lvl8pPr>
            <a:lvl9pPr>
              <a:buNone/>
              <a:defRPr sz="1725" b="1">
                <a:solidFill>
                  <a:srgbClr val="10203A"/>
                </a:solidFill>
              </a:defRPr>
            </a:lvl9pPr>
          </a:lstStyle>
          <a:p xmlns:a="http://schemas.openxmlformats.org/drawingml/2006/main">
            <a:pPr>
              <a:buNone/>
              <a:defRPr sz="1725" b="1">
                <a:solidFill>
                  <a:srgbClr val="10203A"/>
                </a:solidFill>
              </a:defRPr>
            </a:pPr>
            <a:r>
              <a:rPr sz="1725" b="1">
                <a:solidFill>
                  <a:srgbClr val="10203A"/>
                </a:solidFill>
              </a:rPr>
              <a:t>Comparison</a:t>
            </a:r>
          </a:p>
        </p:txBody>
      </p:sp>
      <p:sp>
        <p:nvSpPr>
          <p:cNvPr id="12" name="Rectangle 11">
            <a:extLst xmlns:a="http://schemas.openxmlformats.org/drawingml/2006/main">
              <a:ext uri="{FF2B5EF4-FFF2-40B4-BE49-F238E27FC236}">
                <a16:creationId xmlns:a16="http://schemas.microsoft.com/office/drawing/2014/main" id="{011B143E-E6A8-4823-ACC2-32567B0B21DA}"/>
              </a:ext>
            </a:extLst>
          </p:cNvPr>
          <p:cNvSpPr>
            <a:spLocks xmlns:a="http://schemas.openxmlformats.org/drawingml/2006/main" noGrp="1"/>
          </p:cNvSpPr>
          <p:nvPr/>
        </p:nvSpPr>
        <p:spPr>
          <a:xfrm xmlns:a="http://schemas.openxmlformats.org/drawingml/2006/main">
            <a:off x="2714625" y="321945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Open and restricted endpoints</a:t>
            </a:r>
          </a:p>
        </p:txBody>
      </p:sp>
      <p:sp>
        <p:nvSpPr>
          <p:cNvPr id="13" name="Rectangle 12">
            <a:extLst xmlns:a="http://schemas.openxmlformats.org/drawingml/2006/main">
              <a:ext uri="{FF2B5EF4-FFF2-40B4-BE49-F238E27FC236}">
                <a16:creationId xmlns:a16="http://schemas.microsoft.com/office/drawing/2014/main" id="{9FD21D1A-7A29-4681-9A9F-CB337C969615}"/>
              </a:ext>
            </a:extLst>
          </p:cNvPr>
          <p:cNvSpPr>
            <a:spLocks xmlns:a="http://schemas.openxmlformats.org/drawingml/2006/main" noGrp="1"/>
          </p:cNvSpPr>
          <p:nvPr/>
        </p:nvSpPr>
        <p:spPr>
          <a:xfrm xmlns:a="http://schemas.openxmlformats.org/drawingml/2006/main">
            <a:off x="666750" y="377190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10203A"/>
                </a:solidFill>
              </a:defRPr>
            </a:defPPr>
            <a:lvl1pPr>
              <a:buNone/>
              <a:defRPr sz="1725" b="1">
                <a:solidFill>
                  <a:srgbClr val="10203A"/>
                </a:solidFill>
              </a:defRPr>
            </a:lvl1pPr>
            <a:lvl2pPr>
              <a:buNone/>
              <a:defRPr sz="1725" b="1">
                <a:solidFill>
                  <a:srgbClr val="10203A"/>
                </a:solidFill>
              </a:defRPr>
            </a:lvl2pPr>
            <a:lvl3pPr>
              <a:buNone/>
              <a:defRPr sz="1725" b="1">
                <a:solidFill>
                  <a:srgbClr val="10203A"/>
                </a:solidFill>
              </a:defRPr>
            </a:lvl3pPr>
            <a:lvl4pPr>
              <a:buNone/>
              <a:defRPr sz="1725" b="1">
                <a:solidFill>
                  <a:srgbClr val="10203A"/>
                </a:solidFill>
              </a:defRPr>
            </a:lvl4pPr>
            <a:lvl5pPr>
              <a:buNone/>
              <a:defRPr sz="1725" b="1">
                <a:solidFill>
                  <a:srgbClr val="10203A"/>
                </a:solidFill>
              </a:defRPr>
            </a:lvl5pPr>
            <a:lvl6pPr>
              <a:buNone/>
              <a:defRPr sz="1725" b="1">
                <a:solidFill>
                  <a:srgbClr val="10203A"/>
                </a:solidFill>
              </a:defRPr>
            </a:lvl6pPr>
            <a:lvl7pPr>
              <a:buNone/>
              <a:defRPr sz="1725" b="1">
                <a:solidFill>
                  <a:srgbClr val="10203A"/>
                </a:solidFill>
              </a:defRPr>
            </a:lvl7pPr>
            <a:lvl8pPr>
              <a:buNone/>
              <a:defRPr sz="1725" b="1">
                <a:solidFill>
                  <a:srgbClr val="10203A"/>
                </a:solidFill>
              </a:defRPr>
            </a:lvl8pPr>
            <a:lvl9pPr>
              <a:buNone/>
              <a:defRPr sz="1725" b="1">
                <a:solidFill>
                  <a:srgbClr val="10203A"/>
                </a:solidFill>
              </a:defRPr>
            </a:lvl9pPr>
          </a:lstStyle>
          <a:p xmlns:a="http://schemas.openxmlformats.org/drawingml/2006/main">
            <a:pPr>
              <a:buNone/>
              <a:defRPr sz="1725" b="1">
                <a:solidFill>
                  <a:srgbClr val="10203A"/>
                </a:solidFill>
              </a:defRPr>
            </a:pPr>
            <a:r>
              <a:rPr sz="1725" b="1">
                <a:solidFill>
                  <a:srgbClr val="10203A"/>
                </a:solidFill>
              </a:rPr>
              <a:t>Assessment</a:t>
            </a:r>
          </a:p>
        </p:txBody>
      </p:sp>
      <p:sp>
        <p:nvSpPr>
          <p:cNvPr id="14" name="Rectangle 13">
            <a:extLst xmlns:a="http://schemas.openxmlformats.org/drawingml/2006/main">
              <a:ext uri="{FF2B5EF4-FFF2-40B4-BE49-F238E27FC236}">
                <a16:creationId xmlns:a16="http://schemas.microsoft.com/office/drawing/2014/main" id="{FB786BDA-86C9-4D67-8A70-C2F5C2E304EA}"/>
              </a:ext>
            </a:extLst>
          </p:cNvPr>
          <p:cNvSpPr>
            <a:spLocks xmlns:a="http://schemas.openxmlformats.org/drawingml/2006/main" noGrp="1"/>
          </p:cNvSpPr>
          <p:nvPr/>
        </p:nvSpPr>
        <p:spPr>
          <a:xfrm xmlns:a="http://schemas.openxmlformats.org/drawingml/2006/main">
            <a:off x="2714625" y="377190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Service discovery and evidence-based ranking</a:t>
            </a:r>
          </a:p>
        </p:txBody>
      </p:sp>
      <p:sp>
        <p:nvSpPr>
          <p:cNvPr id="15" name="Rectangle 14">
            <a:extLst xmlns:a="http://schemas.openxmlformats.org/drawingml/2006/main">
              <a:ext uri="{FF2B5EF4-FFF2-40B4-BE49-F238E27FC236}">
                <a16:creationId xmlns:a16="http://schemas.microsoft.com/office/drawing/2014/main" id="{7546EF91-8AB5-4C58-90C4-A33759042FB7}"/>
              </a:ext>
            </a:extLst>
          </p:cNvPr>
          <p:cNvSpPr>
            <a:spLocks xmlns:a="http://schemas.openxmlformats.org/drawingml/2006/main" noGrp="1"/>
          </p:cNvSpPr>
          <p:nvPr/>
        </p:nvSpPr>
        <p:spPr>
          <a:xfrm xmlns:a="http://schemas.openxmlformats.org/drawingml/2006/main">
            <a:off x="8515350" y="1533525"/>
            <a:ext cx="304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200" b="1">
                <a:solidFill>
                  <a:srgbClr val="7050C4"/>
                </a:solidFill>
              </a:defRPr>
            </a:defPPr>
            <a:lvl1pPr>
              <a:buNone/>
              <a:defRPr sz="1200" b="1">
                <a:solidFill>
                  <a:srgbClr val="7050C4"/>
                </a:solidFill>
              </a:defRPr>
            </a:lvl1pPr>
            <a:lvl2pPr>
              <a:buNone/>
              <a:defRPr sz="1200" b="1">
                <a:solidFill>
                  <a:srgbClr val="7050C4"/>
                </a:solidFill>
              </a:defRPr>
            </a:lvl2pPr>
            <a:lvl3pPr>
              <a:buNone/>
              <a:defRPr sz="1200" b="1">
                <a:solidFill>
                  <a:srgbClr val="7050C4"/>
                </a:solidFill>
              </a:defRPr>
            </a:lvl3pPr>
            <a:lvl4pPr>
              <a:buNone/>
              <a:defRPr sz="1200" b="1">
                <a:solidFill>
                  <a:srgbClr val="7050C4"/>
                </a:solidFill>
              </a:defRPr>
            </a:lvl4pPr>
            <a:lvl5pPr>
              <a:buNone/>
              <a:defRPr sz="1200" b="1">
                <a:solidFill>
                  <a:srgbClr val="7050C4"/>
                </a:solidFill>
              </a:defRPr>
            </a:lvl5pPr>
            <a:lvl6pPr>
              <a:buNone/>
              <a:defRPr sz="1200" b="1">
                <a:solidFill>
                  <a:srgbClr val="7050C4"/>
                </a:solidFill>
              </a:defRPr>
            </a:lvl6pPr>
            <a:lvl7pPr>
              <a:buNone/>
              <a:defRPr sz="1200" b="1">
                <a:solidFill>
                  <a:srgbClr val="7050C4"/>
                </a:solidFill>
              </a:defRPr>
            </a:lvl7pPr>
            <a:lvl8pPr>
              <a:buNone/>
              <a:defRPr sz="1200" b="1">
                <a:solidFill>
                  <a:srgbClr val="7050C4"/>
                </a:solidFill>
              </a:defRPr>
            </a:lvl8pPr>
            <a:lvl9pPr>
              <a:buNone/>
              <a:defRPr sz="1200" b="1">
                <a:solidFill>
                  <a:srgbClr val="7050C4"/>
                </a:solidFill>
              </a:defRPr>
            </a:lvl9pPr>
          </a:lstStyle>
          <a:p xmlns:a="http://schemas.openxmlformats.org/drawingml/2006/main">
            <a:pPr>
              <a:buNone/>
              <a:defRPr sz="1200" b="1">
                <a:solidFill>
                  <a:srgbClr val="7050C4"/>
                </a:solidFill>
              </a:defRPr>
            </a:pPr>
            <a:r>
              <a:rPr sz="1200" b="1">
                <a:solidFill>
                  <a:srgbClr val="7050C4"/>
                </a:solidFill>
              </a:rPr>
              <a:t>HOW IT RUNS</a:t>
            </a:r>
          </a:p>
        </p:txBody>
      </p:sp>
      <p:sp>
        <p:nvSpPr>
          <p:cNvPr id="16" name="Rectangle 15">
            <a:extLst xmlns:a="http://schemas.openxmlformats.org/drawingml/2006/main">
              <a:ext uri="{FF2B5EF4-FFF2-40B4-BE49-F238E27FC236}">
                <a16:creationId xmlns:a16="http://schemas.microsoft.com/office/drawing/2014/main" id="{76E43328-2091-4477-B829-9E83878E60FC}"/>
              </a:ext>
            </a:extLst>
          </p:cNvPr>
          <p:cNvSpPr>
            <a:spLocks xmlns:a="http://schemas.openxmlformats.org/drawingml/2006/main" noGrp="1"/>
          </p:cNvSpPr>
          <p:nvPr/>
        </p:nvSpPr>
        <p:spPr>
          <a:xfrm xmlns:a="http://schemas.openxmlformats.org/drawingml/2006/main">
            <a:off x="8515350" y="19431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10203A"/>
                </a:solidFill>
              </a:defRPr>
            </a:defPPr>
            <a:lvl1pPr>
              <a:buNone/>
              <a:defRPr sz="1725" b="1">
                <a:solidFill>
                  <a:srgbClr val="10203A"/>
                </a:solidFill>
              </a:defRPr>
            </a:lvl1pPr>
            <a:lvl2pPr>
              <a:buNone/>
              <a:defRPr sz="1725" b="1">
                <a:solidFill>
                  <a:srgbClr val="10203A"/>
                </a:solidFill>
              </a:defRPr>
            </a:lvl2pPr>
            <a:lvl3pPr>
              <a:buNone/>
              <a:defRPr sz="1725" b="1">
                <a:solidFill>
                  <a:srgbClr val="10203A"/>
                </a:solidFill>
              </a:defRPr>
            </a:lvl3pPr>
            <a:lvl4pPr>
              <a:buNone/>
              <a:defRPr sz="1725" b="1">
                <a:solidFill>
                  <a:srgbClr val="10203A"/>
                </a:solidFill>
              </a:defRPr>
            </a:lvl4pPr>
            <a:lvl5pPr>
              <a:buNone/>
              <a:defRPr sz="1725" b="1">
                <a:solidFill>
                  <a:srgbClr val="10203A"/>
                </a:solidFill>
              </a:defRPr>
            </a:lvl5pPr>
            <a:lvl6pPr>
              <a:buNone/>
              <a:defRPr sz="1725" b="1">
                <a:solidFill>
                  <a:srgbClr val="10203A"/>
                </a:solidFill>
              </a:defRPr>
            </a:lvl6pPr>
            <a:lvl7pPr>
              <a:buNone/>
              <a:defRPr sz="1725" b="1">
                <a:solidFill>
                  <a:srgbClr val="10203A"/>
                </a:solidFill>
              </a:defRPr>
            </a:lvl7pPr>
            <a:lvl8pPr>
              <a:buNone/>
              <a:defRPr sz="1725" b="1">
                <a:solidFill>
                  <a:srgbClr val="10203A"/>
                </a:solidFill>
              </a:defRPr>
            </a:lvl8pPr>
            <a:lvl9pPr>
              <a:buNone/>
              <a:defRPr sz="1725" b="1">
                <a:solidFill>
                  <a:srgbClr val="10203A"/>
                </a:solidFill>
              </a:defRPr>
            </a:lvl9pPr>
          </a:lstStyle>
          <a:p xmlns:a="http://schemas.openxmlformats.org/drawingml/2006/main">
            <a:pPr>
              <a:buNone/>
              <a:defRPr sz="1725" b="1">
                <a:solidFill>
                  <a:srgbClr val="10203A"/>
                </a:solidFill>
              </a:defRPr>
            </a:pPr>
            <a:r>
              <a:rPr sz="1725" b="1">
                <a:solidFill>
                  <a:srgbClr val="10203A"/>
                </a:solidFill>
              </a:rPr>
              <a:t>Docker Desktop + WSL 2</a:t>
            </a:r>
          </a:p>
        </p:txBody>
      </p:sp>
      <p:sp>
        <p:nvSpPr>
          <p:cNvPr id="17" name="Rectangle 16">
            <a:extLst xmlns:a="http://schemas.openxmlformats.org/drawingml/2006/main">
              <a:ext uri="{FF2B5EF4-FFF2-40B4-BE49-F238E27FC236}">
                <a16:creationId xmlns:a16="http://schemas.microsoft.com/office/drawing/2014/main" id="{30199DD6-8CE8-49AE-872D-580E604118D5}"/>
              </a:ext>
            </a:extLst>
          </p:cNvPr>
          <p:cNvSpPr>
            <a:spLocks xmlns:a="http://schemas.openxmlformats.org/drawingml/2006/main" noGrp="1"/>
          </p:cNvSpPr>
          <p:nvPr/>
        </p:nvSpPr>
        <p:spPr>
          <a:xfrm xmlns:a="http://schemas.openxmlformats.org/drawingml/2006/main">
            <a:off x="8515350" y="2352675"/>
            <a:ext cx="285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Containers run real services behind the local gateway at 127.0.0.2.</a:t>
            </a:r>
          </a:p>
        </p:txBody>
      </p:sp>
      <p:sp>
        <p:nvSpPr>
          <p:cNvPr id="18" name="Rectangle 17">
            <a:extLst xmlns:a="http://schemas.openxmlformats.org/drawingml/2006/main">
              <a:ext uri="{FF2B5EF4-FFF2-40B4-BE49-F238E27FC236}">
                <a16:creationId xmlns:a16="http://schemas.microsoft.com/office/drawing/2014/main" id="{7F490237-AA3C-4824-82A6-F775E99A8471}"/>
              </a:ext>
            </a:extLst>
          </p:cNvPr>
          <p:cNvSpPr>
            <a:spLocks xmlns:a="http://schemas.openxmlformats.org/drawingml/2006/main" noGrp="1"/>
          </p:cNvSpPr>
          <p:nvPr/>
        </p:nvSpPr>
        <p:spPr>
          <a:xfrm xmlns:a="http://schemas.openxmlformats.org/drawingml/2006/main">
            <a:off x="8515350" y="34861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275" b="1">
                <a:solidFill>
                  <a:srgbClr val="7050C4"/>
                </a:solidFill>
              </a:defRPr>
            </a:defPPr>
            <a:lvl1pPr>
              <a:buNone/>
              <a:defRPr sz="1275" b="1">
                <a:solidFill>
                  <a:srgbClr val="7050C4"/>
                </a:solidFill>
              </a:defRPr>
            </a:lvl1pPr>
            <a:lvl2pPr>
              <a:buNone/>
              <a:defRPr sz="1275" b="1">
                <a:solidFill>
                  <a:srgbClr val="7050C4"/>
                </a:solidFill>
              </a:defRPr>
            </a:lvl2pPr>
            <a:lvl3pPr>
              <a:buNone/>
              <a:defRPr sz="1275" b="1">
                <a:solidFill>
                  <a:srgbClr val="7050C4"/>
                </a:solidFill>
              </a:defRPr>
            </a:lvl3pPr>
            <a:lvl4pPr>
              <a:buNone/>
              <a:defRPr sz="1275" b="1">
                <a:solidFill>
                  <a:srgbClr val="7050C4"/>
                </a:solidFill>
              </a:defRPr>
            </a:lvl4pPr>
            <a:lvl5pPr>
              <a:buNone/>
              <a:defRPr sz="1275" b="1">
                <a:solidFill>
                  <a:srgbClr val="7050C4"/>
                </a:solidFill>
              </a:defRPr>
            </a:lvl5pPr>
            <a:lvl6pPr>
              <a:buNone/>
              <a:defRPr sz="1275" b="1">
                <a:solidFill>
                  <a:srgbClr val="7050C4"/>
                </a:solidFill>
              </a:defRPr>
            </a:lvl6pPr>
            <a:lvl7pPr>
              <a:buNone/>
              <a:defRPr sz="1275" b="1">
                <a:solidFill>
                  <a:srgbClr val="7050C4"/>
                </a:solidFill>
              </a:defRPr>
            </a:lvl7pPr>
            <a:lvl8pPr>
              <a:buNone/>
              <a:defRPr sz="1275" b="1">
                <a:solidFill>
                  <a:srgbClr val="7050C4"/>
                </a:solidFill>
              </a:defRPr>
            </a:lvl8pPr>
            <a:lvl9pPr>
              <a:buNone/>
              <a:defRPr sz="1275" b="1">
                <a:solidFill>
                  <a:srgbClr val="7050C4"/>
                </a:solidFill>
              </a:defRPr>
            </a:lvl9pPr>
          </a:lstStyle>
          <a:p xmlns:a="http://schemas.openxmlformats.org/drawingml/2006/main">
            <a:pPr>
              <a:buNone/>
              <a:defRPr sz="1275" b="1">
                <a:solidFill>
                  <a:srgbClr val="7050C4"/>
                </a:solidFill>
              </a:defRPr>
            </a:pPr>
            <a:r>
              <a:rPr sz="1275" b="1">
                <a:solidFill>
                  <a:srgbClr val="7050C4"/>
                </a:solidFill>
              </a:rPr>
              <a:t>Backend</a:t>
            </a:r>
          </a:p>
        </p:txBody>
      </p:sp>
      <p:sp>
        <p:nvSpPr>
          <p:cNvPr id="19" name="Rectangle 18">
            <a:extLst xmlns:a="http://schemas.openxmlformats.org/drawingml/2006/main">
              <a:ext uri="{FF2B5EF4-FFF2-40B4-BE49-F238E27FC236}">
                <a16:creationId xmlns:a16="http://schemas.microsoft.com/office/drawing/2014/main" id="{4AD19D15-4257-48A6-8757-7265851DCAD2}"/>
              </a:ext>
            </a:extLst>
          </p:cNvPr>
          <p:cNvSpPr>
            <a:spLocks xmlns:a="http://schemas.openxmlformats.org/drawingml/2006/main" noGrp="1"/>
          </p:cNvSpPr>
          <p:nvPr/>
        </p:nvSpPr>
        <p:spPr>
          <a:xfrm xmlns:a="http://schemas.openxmlformats.org/drawingml/2006/main">
            <a:off x="8515350" y="3810000"/>
            <a:ext cx="285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Python: pyftpdlib, AsyncSSH, Impacket</a:t>
            </a:r>
          </a:p>
          <a:p xmlns:a="http://schemas.openxmlformats.org/drawingml/2006/main">
            <a:pPr>
              <a:buNone/>
              <a:defRPr sz="1500" b="0">
                <a:solidFill>
                  <a:srgbClr val="34455C"/>
                </a:solidFill>
              </a:defRPr>
            </a:pPr>
            <a:r>
              <a:rPr sz="1500" b="0">
                <a:solidFill>
                  <a:srgbClr val="34455C"/>
                </a:solidFill>
              </a:rPr>
              <a:t>Redis 7.0.11</a:t>
            </a:r>
          </a:p>
        </p:txBody>
      </p:sp>
      <p:sp>
        <p:nvSpPr>
          <p:cNvPr id="20" name="Rectangle 19">
            <a:extLst xmlns:a="http://schemas.openxmlformats.org/drawingml/2006/main">
              <a:ext uri="{FF2B5EF4-FFF2-40B4-BE49-F238E27FC236}">
                <a16:creationId xmlns:a16="http://schemas.microsoft.com/office/drawing/2014/main" id="{7D757AD3-C237-4F37-901A-9444116682CF}"/>
              </a:ext>
            </a:extLst>
          </p:cNvPr>
          <p:cNvSpPr>
            <a:spLocks xmlns:a="http://schemas.openxmlformats.org/drawingml/2006/main" noGrp="1"/>
          </p:cNvSpPr>
          <p:nvPr/>
        </p:nvSpPr>
        <p:spPr>
          <a:xfrm xmlns:a="http://schemas.openxmlformats.org/drawingml/2006/main">
            <a:off x="666750" y="4762500"/>
            <a:ext cx="101917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Nmap and protocol checks collect evidence. Context, threat data and AI help explain the results.</a:t>
            </a:r>
          </a:p>
        </p:txBody>
      </p:sp>
    </p:spTree>
    <p:extLst>
      <p:ext uri="{BB962C8B-B14F-4D97-AF65-F5344CB8AC3E}">
        <p14:creationId xmlns:p14="http://schemas.microsoft.com/office/powerpoint/2010/main" val="203632950"/>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C483922-43C5-46F3-BD06-3DBCC5BDFDB8}"/>
              </a:ext>
            </a:extLst>
          </p:cNvPr>
          <p:cNvSpPr>
            <a:spLocks xmlns:a="http://schemas.openxmlformats.org/drawingml/2006/main" noGrp="1"/>
          </p:cNvSpPr>
          <p:nvPr/>
        </p:nvSpPr>
        <p:spPr>
          <a:xfrm xmlns:a="http://schemas.openxmlformats.org/drawingml/2006/main">
            <a:off x="628650" y="3524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125" b="1">
                <a:solidFill>
                  <a:srgbClr val="2458D7"/>
                </a:solidFill>
              </a:defRPr>
            </a:defPPr>
            <a:lvl1pPr>
              <a:buNone/>
              <a:defRPr sz="1125" b="1">
                <a:solidFill>
                  <a:srgbClr val="2458D7"/>
                </a:solidFill>
              </a:defRPr>
            </a:lvl1pPr>
            <a:lvl2pPr>
              <a:buNone/>
              <a:defRPr sz="1125" b="1">
                <a:solidFill>
                  <a:srgbClr val="2458D7"/>
                </a:solidFill>
              </a:defRPr>
            </a:lvl2pPr>
            <a:lvl3pPr>
              <a:buNone/>
              <a:defRPr sz="1125" b="1">
                <a:solidFill>
                  <a:srgbClr val="2458D7"/>
                </a:solidFill>
              </a:defRPr>
            </a:lvl3pPr>
            <a:lvl4pPr>
              <a:buNone/>
              <a:defRPr sz="1125" b="1">
                <a:solidFill>
                  <a:srgbClr val="2458D7"/>
                </a:solidFill>
              </a:defRPr>
            </a:lvl4pPr>
            <a:lvl5pPr>
              <a:buNone/>
              <a:defRPr sz="1125" b="1">
                <a:solidFill>
                  <a:srgbClr val="2458D7"/>
                </a:solidFill>
              </a:defRPr>
            </a:lvl5pPr>
            <a:lvl6pPr>
              <a:buNone/>
              <a:defRPr sz="1125" b="1">
                <a:solidFill>
                  <a:srgbClr val="2458D7"/>
                </a:solidFill>
              </a:defRPr>
            </a:lvl6pPr>
            <a:lvl7pPr>
              <a:buNone/>
              <a:defRPr sz="1125" b="1">
                <a:solidFill>
                  <a:srgbClr val="2458D7"/>
                </a:solidFill>
              </a:defRPr>
            </a:lvl7pPr>
            <a:lvl8pPr>
              <a:buNone/>
              <a:defRPr sz="1125" b="1">
                <a:solidFill>
                  <a:srgbClr val="2458D7"/>
                </a:solidFill>
              </a:defRPr>
            </a:lvl8pPr>
            <a:lvl9pPr>
              <a:buNone/>
              <a:defRPr sz="1125" b="1">
                <a:solidFill>
                  <a:srgbClr val="2458D7"/>
                </a:solidFill>
              </a:defRPr>
            </a:lvl9pPr>
          </a:lstStyle>
          <a:p xmlns:a="http://schemas.openxmlformats.org/drawingml/2006/main">
            <a:pPr>
              <a:buNone/>
              <a:defRPr sz="1125" b="1">
                <a:solidFill>
                  <a:srgbClr val="2458D7"/>
                </a:solidFill>
              </a:defRPr>
            </a:pPr>
            <a:r>
              <a:rPr sz="1125" b="1">
                <a:solidFill>
                  <a:srgbClr val="2458D7"/>
                </a:solidFill>
              </a:rPr>
              <a:t>OFFICE ENVIRONMENT</a:t>
            </a:r>
          </a:p>
        </p:txBody>
      </p:sp>
      <p:sp>
        <p:nvSpPr>
          <p:cNvPr id="3" name="Rectangle 2">
            <a:extLst xmlns:a="http://schemas.openxmlformats.org/drawingml/2006/main">
              <a:ext uri="{FF2B5EF4-FFF2-40B4-BE49-F238E27FC236}">
                <a16:creationId xmlns:a16="http://schemas.microsoft.com/office/drawing/2014/main" id="{0D0E98FE-7060-406F-A393-D0E96C011513}"/>
              </a:ext>
            </a:extLst>
          </p:cNvPr>
          <p:cNvSpPr>
            <a:spLocks xmlns:a="http://schemas.openxmlformats.org/drawingml/2006/main" noGrp="1"/>
          </p:cNvSpPr>
          <p:nvPr/>
        </p:nvSpPr>
        <p:spPr>
          <a:xfrm xmlns:a="http://schemas.openxmlformats.org/drawingml/2006/main">
            <a:off x="628650" y="714375"/>
            <a:ext cx="10858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850" b="1">
                <a:solidFill>
                  <a:srgbClr val="10203A"/>
                </a:solidFill>
              </a:defRPr>
            </a:defPPr>
            <a:lvl1pPr>
              <a:buNone/>
              <a:defRPr sz="2850" b="1">
                <a:solidFill>
                  <a:srgbClr val="10203A"/>
                </a:solidFill>
              </a:defRPr>
            </a:lvl1pPr>
            <a:lvl2pPr>
              <a:buNone/>
              <a:defRPr sz="2850" b="1">
                <a:solidFill>
                  <a:srgbClr val="10203A"/>
                </a:solidFill>
              </a:defRPr>
            </a:lvl2pPr>
            <a:lvl3pPr>
              <a:buNone/>
              <a:defRPr sz="2850" b="1">
                <a:solidFill>
                  <a:srgbClr val="10203A"/>
                </a:solidFill>
              </a:defRPr>
            </a:lvl3pPr>
            <a:lvl4pPr>
              <a:buNone/>
              <a:defRPr sz="2850" b="1">
                <a:solidFill>
                  <a:srgbClr val="10203A"/>
                </a:solidFill>
              </a:defRPr>
            </a:lvl4pPr>
            <a:lvl5pPr>
              <a:buNone/>
              <a:defRPr sz="2850" b="1">
                <a:solidFill>
                  <a:srgbClr val="10203A"/>
                </a:solidFill>
              </a:defRPr>
            </a:lvl5pPr>
            <a:lvl6pPr>
              <a:buNone/>
              <a:defRPr sz="2850" b="1">
                <a:solidFill>
                  <a:srgbClr val="10203A"/>
                </a:solidFill>
              </a:defRPr>
            </a:lvl6pPr>
            <a:lvl7pPr>
              <a:buNone/>
              <a:defRPr sz="2850" b="1">
                <a:solidFill>
                  <a:srgbClr val="10203A"/>
                </a:solidFill>
              </a:defRPr>
            </a:lvl7pPr>
            <a:lvl8pPr>
              <a:buNone/>
              <a:defRPr sz="2850" b="1">
                <a:solidFill>
                  <a:srgbClr val="10203A"/>
                </a:solidFill>
              </a:defRPr>
            </a:lvl8pPr>
            <a:lvl9pPr>
              <a:buNone/>
              <a:defRPr sz="2850" b="1">
                <a:solidFill>
                  <a:srgbClr val="10203A"/>
                </a:solidFill>
              </a:defRPr>
            </a:lvl9pPr>
          </a:lstStyle>
          <a:p xmlns:a="http://schemas.openxmlformats.org/drawingml/2006/main">
            <a:pPr>
              <a:buNone/>
              <a:defRPr sz="2850" b="1">
                <a:solidFill>
                  <a:srgbClr val="10203A"/>
                </a:solidFill>
              </a:defRPr>
            </a:pPr>
            <a:r>
              <a:rPr sz="2850" b="1">
                <a:solidFill>
                  <a:srgbClr val="10203A"/>
                </a:solidFill>
              </a:rPr>
              <a:t>Office network: what was found</a:t>
            </a:r>
          </a:p>
        </p:txBody>
      </p:sp>
      <p:sp>
        <p:nvSpPr>
          <p:cNvPr id="4" name="Rectangle 3">
            <a:extLst xmlns:a="http://schemas.openxmlformats.org/drawingml/2006/main">
              <a:ext uri="{FF2B5EF4-FFF2-40B4-BE49-F238E27FC236}">
                <a16:creationId xmlns:a16="http://schemas.microsoft.com/office/drawing/2014/main" id="{9E42EC67-B613-4857-8000-7DE4E28B4DA7}"/>
              </a:ext>
            </a:extLst>
          </p:cNvPr>
          <p:cNvSpPr>
            <a:spLocks xmlns:a="http://schemas.openxmlformats.org/drawingml/2006/main" noGrp="1"/>
          </p:cNvSpPr>
          <p:nvPr/>
        </p:nvSpPr>
        <p:spPr>
          <a:xfrm xmlns:a="http://schemas.openxmlformats.org/drawingml/2006/main">
            <a:off x="628650" y="64579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65738A"/>
                </a:solidFill>
              </a:defRPr>
            </a:defPPr>
            <a:lvl1pPr>
              <a:buNone/>
              <a:defRPr sz="975" b="0">
                <a:solidFill>
                  <a:srgbClr val="65738A"/>
                </a:solidFill>
              </a:defRPr>
            </a:lvl1pPr>
            <a:lvl2pPr>
              <a:buNone/>
              <a:defRPr sz="975" b="0">
                <a:solidFill>
                  <a:srgbClr val="65738A"/>
                </a:solidFill>
              </a:defRPr>
            </a:lvl2pPr>
            <a:lvl3pPr>
              <a:buNone/>
              <a:defRPr sz="975" b="0">
                <a:solidFill>
                  <a:srgbClr val="65738A"/>
                </a:solidFill>
              </a:defRPr>
            </a:lvl3pPr>
            <a:lvl4pPr>
              <a:buNone/>
              <a:defRPr sz="975" b="0">
                <a:solidFill>
                  <a:srgbClr val="65738A"/>
                </a:solidFill>
              </a:defRPr>
            </a:lvl4pPr>
            <a:lvl5pPr>
              <a:buNone/>
              <a:defRPr sz="975" b="0">
                <a:solidFill>
                  <a:srgbClr val="65738A"/>
                </a:solidFill>
              </a:defRPr>
            </a:lvl5pPr>
            <a:lvl6pPr>
              <a:buNone/>
              <a:defRPr sz="975" b="0">
                <a:solidFill>
                  <a:srgbClr val="65738A"/>
                </a:solidFill>
              </a:defRPr>
            </a:lvl6pPr>
            <a:lvl7pPr>
              <a:buNone/>
              <a:defRPr sz="975" b="0">
                <a:solidFill>
                  <a:srgbClr val="65738A"/>
                </a:solidFill>
              </a:defRPr>
            </a:lvl7pPr>
            <a:lvl8pPr>
              <a:buNone/>
              <a:defRPr sz="975" b="0">
                <a:solidFill>
                  <a:srgbClr val="65738A"/>
                </a:solidFill>
              </a:defRPr>
            </a:lvl8pPr>
            <a:lvl9pPr>
              <a:buNone/>
              <a:defRPr sz="975" b="0">
                <a:solidFill>
                  <a:srgbClr val="65738A"/>
                </a:solidFill>
              </a:defRPr>
            </a:lvl9pPr>
          </a:lstStyle>
          <a:p xmlns:a="http://schemas.openxmlformats.org/drawingml/2006/main">
            <a:pPr>
              <a:buNone/>
              <a:defRPr sz="975" b="0">
                <a:solidFill>
                  <a:srgbClr val="65738A"/>
                </a:solidFill>
              </a:defRPr>
            </a:pPr>
            <a:r>
              <a:rPr sz="975" b="0">
                <a:solidFill>
                  <a:srgbClr val="65738A"/>
                </a:solidFill>
              </a:rPr>
              <a:t>VulnAssess  /  Network environments</a:t>
            </a:r>
          </a:p>
        </p:txBody>
      </p:sp>
      <p:sp>
        <p:nvSpPr>
          <p:cNvPr id="5" name="Rectangle 4">
            <a:extLst xmlns:a="http://schemas.openxmlformats.org/drawingml/2006/main">
              <a:ext uri="{FF2B5EF4-FFF2-40B4-BE49-F238E27FC236}">
                <a16:creationId xmlns:a16="http://schemas.microsoft.com/office/drawing/2014/main" id="{150357DD-A7C4-4683-A2C7-026AC3133582}"/>
              </a:ext>
            </a:extLst>
          </p:cNvPr>
          <p:cNvSpPr>
            <a:spLocks xmlns:a="http://schemas.openxmlformats.org/drawingml/2006/main" noGrp="1"/>
          </p:cNvSpPr>
          <p:nvPr/>
        </p:nvSpPr>
        <p:spPr>
          <a:xfrm xmlns:a="http://schemas.openxmlformats.org/drawingml/2006/main">
            <a:off x="11049000" y="64484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1">
                <a:solidFill>
                  <a:srgbClr val="65738A"/>
                </a:solidFill>
              </a:defRPr>
            </a:defPPr>
            <a:lvl1pPr>
              <a:buNone/>
              <a:defRPr sz="975" b="1">
                <a:solidFill>
                  <a:srgbClr val="65738A"/>
                </a:solidFill>
              </a:defRPr>
            </a:lvl1pPr>
            <a:lvl2pPr>
              <a:buNone/>
              <a:defRPr sz="975" b="1">
                <a:solidFill>
                  <a:srgbClr val="65738A"/>
                </a:solidFill>
              </a:defRPr>
            </a:lvl2pPr>
            <a:lvl3pPr>
              <a:buNone/>
              <a:defRPr sz="975" b="1">
                <a:solidFill>
                  <a:srgbClr val="65738A"/>
                </a:solidFill>
              </a:defRPr>
            </a:lvl3pPr>
            <a:lvl4pPr>
              <a:buNone/>
              <a:defRPr sz="975" b="1">
                <a:solidFill>
                  <a:srgbClr val="65738A"/>
                </a:solidFill>
              </a:defRPr>
            </a:lvl4pPr>
            <a:lvl5pPr>
              <a:buNone/>
              <a:defRPr sz="975" b="1">
                <a:solidFill>
                  <a:srgbClr val="65738A"/>
                </a:solidFill>
              </a:defRPr>
            </a:lvl5pPr>
            <a:lvl6pPr>
              <a:buNone/>
              <a:defRPr sz="975" b="1">
                <a:solidFill>
                  <a:srgbClr val="65738A"/>
                </a:solidFill>
              </a:defRPr>
            </a:lvl6pPr>
            <a:lvl7pPr>
              <a:buNone/>
              <a:defRPr sz="975" b="1">
                <a:solidFill>
                  <a:srgbClr val="65738A"/>
                </a:solidFill>
              </a:defRPr>
            </a:lvl7pPr>
            <a:lvl8pPr>
              <a:buNone/>
              <a:defRPr sz="975" b="1">
                <a:solidFill>
                  <a:srgbClr val="65738A"/>
                </a:solidFill>
              </a:defRPr>
            </a:lvl8pPr>
            <a:lvl9pPr>
              <a:buNone/>
              <a:defRPr sz="975" b="1">
                <a:solidFill>
                  <a:srgbClr val="65738A"/>
                </a:solidFill>
              </a:defRPr>
            </a:lvl9pPr>
          </a:lstStyle>
          <a:p xmlns:a="http://schemas.openxmlformats.org/drawingml/2006/main">
            <a:pPr>
              <a:buNone/>
              <a:defRPr sz="975" b="1">
                <a:solidFill>
                  <a:srgbClr val="65738A"/>
                </a:solidFill>
              </a:defRPr>
            </a:pPr>
            <a:r>
              <a:rPr sz="975" b="1">
                <a:solidFill>
                  <a:srgbClr val="65738A"/>
                </a:solidFill>
              </a:rPr>
              <a:t>02</a:t>
            </a:r>
          </a:p>
        </p:txBody>
      </p:sp>
      <p:sp>
        <p:nvSpPr>
          <p:cNvPr id="6" name="Rectangle 5">
            <a:extLst xmlns:a="http://schemas.openxmlformats.org/drawingml/2006/main">
              <a:ext uri="{FF2B5EF4-FFF2-40B4-BE49-F238E27FC236}">
                <a16:creationId xmlns:a16="http://schemas.microsoft.com/office/drawing/2014/main" id="{A664606F-E8EA-495B-B910-3497B9A2C154}"/>
              </a:ext>
            </a:extLst>
          </p:cNvPr>
          <p:cNvSpPr>
            <a:spLocks xmlns:a="http://schemas.openxmlformats.org/drawingml/2006/main" noGrp="1"/>
          </p:cNvSpPr>
          <p:nvPr/>
        </p:nvSpPr>
        <p:spPr>
          <a:xfrm xmlns:a="http://schemas.openxmlformats.org/drawingml/2006/main">
            <a:off x="685800" y="1476375"/>
            <a:ext cx="138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5250" b="1">
                <a:solidFill>
                  <a:srgbClr val="2458D7"/>
                </a:solidFill>
              </a:defRPr>
            </a:defPPr>
            <a:lvl1pPr>
              <a:buNone/>
              <a:defRPr sz="5250" b="1">
                <a:solidFill>
                  <a:srgbClr val="2458D7"/>
                </a:solidFill>
              </a:defRPr>
            </a:lvl1pPr>
            <a:lvl2pPr>
              <a:buNone/>
              <a:defRPr sz="5250" b="1">
                <a:solidFill>
                  <a:srgbClr val="2458D7"/>
                </a:solidFill>
              </a:defRPr>
            </a:lvl2pPr>
            <a:lvl3pPr>
              <a:buNone/>
              <a:defRPr sz="5250" b="1">
                <a:solidFill>
                  <a:srgbClr val="2458D7"/>
                </a:solidFill>
              </a:defRPr>
            </a:lvl3pPr>
            <a:lvl4pPr>
              <a:buNone/>
              <a:defRPr sz="5250" b="1">
                <a:solidFill>
                  <a:srgbClr val="2458D7"/>
                </a:solidFill>
              </a:defRPr>
            </a:lvl4pPr>
            <a:lvl5pPr>
              <a:buNone/>
              <a:defRPr sz="5250" b="1">
                <a:solidFill>
                  <a:srgbClr val="2458D7"/>
                </a:solidFill>
              </a:defRPr>
            </a:lvl5pPr>
            <a:lvl6pPr>
              <a:buNone/>
              <a:defRPr sz="5250" b="1">
                <a:solidFill>
                  <a:srgbClr val="2458D7"/>
                </a:solidFill>
              </a:defRPr>
            </a:lvl6pPr>
            <a:lvl7pPr>
              <a:buNone/>
              <a:defRPr sz="5250" b="1">
                <a:solidFill>
                  <a:srgbClr val="2458D7"/>
                </a:solidFill>
              </a:defRPr>
            </a:lvl7pPr>
            <a:lvl8pPr>
              <a:buNone/>
              <a:defRPr sz="5250" b="1">
                <a:solidFill>
                  <a:srgbClr val="2458D7"/>
                </a:solidFill>
              </a:defRPr>
            </a:lvl8pPr>
            <a:lvl9pPr>
              <a:buNone/>
              <a:defRPr sz="5250" b="1">
                <a:solidFill>
                  <a:srgbClr val="2458D7"/>
                </a:solidFill>
              </a:defRPr>
            </a:lvl9pPr>
          </a:lstStyle>
          <a:p xmlns:a="http://schemas.openxmlformats.org/drawingml/2006/main">
            <a:pPr>
              <a:buNone/>
              <a:defRPr sz="5250" b="1">
                <a:solidFill>
                  <a:srgbClr val="2458D7"/>
                </a:solidFill>
              </a:defRPr>
            </a:pPr>
            <a:r>
              <a:rPr sz="5250" b="1">
                <a:solidFill>
                  <a:srgbClr val="2458D7"/>
                </a:solidFill>
              </a:rPr>
              <a:t>05</a:t>
            </a:r>
          </a:p>
        </p:txBody>
      </p:sp>
      <p:sp>
        <p:nvSpPr>
          <p:cNvPr id="7" name="Rectangle 6">
            <a:extLst xmlns:a="http://schemas.openxmlformats.org/drawingml/2006/main">
              <a:ext uri="{FF2B5EF4-FFF2-40B4-BE49-F238E27FC236}">
                <a16:creationId xmlns:a16="http://schemas.microsoft.com/office/drawing/2014/main" id="{F6CAFB45-7AC2-4F23-8D3F-2E6FFAF0497B}"/>
              </a:ext>
            </a:extLst>
          </p:cNvPr>
          <p:cNvSpPr>
            <a:spLocks xmlns:a="http://schemas.openxmlformats.org/drawingml/2006/main" noGrp="1"/>
          </p:cNvSpPr>
          <p:nvPr/>
        </p:nvSpPr>
        <p:spPr>
          <a:xfrm xmlns:a="http://schemas.openxmlformats.org/drawingml/2006/main">
            <a:off x="704850" y="23812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65738A"/>
                </a:solidFill>
              </a:defRPr>
            </a:defPPr>
            <a:lvl1pPr>
              <a:buNone/>
              <a:defRPr sz="1500" b="0">
                <a:solidFill>
                  <a:srgbClr val="65738A"/>
                </a:solidFill>
              </a:defRPr>
            </a:lvl1pPr>
            <a:lvl2pPr>
              <a:buNone/>
              <a:defRPr sz="1500" b="0">
                <a:solidFill>
                  <a:srgbClr val="65738A"/>
                </a:solidFill>
              </a:defRPr>
            </a:lvl2pPr>
            <a:lvl3pPr>
              <a:buNone/>
              <a:defRPr sz="1500" b="0">
                <a:solidFill>
                  <a:srgbClr val="65738A"/>
                </a:solidFill>
              </a:defRPr>
            </a:lvl3pPr>
            <a:lvl4pPr>
              <a:buNone/>
              <a:defRPr sz="1500" b="0">
                <a:solidFill>
                  <a:srgbClr val="65738A"/>
                </a:solidFill>
              </a:defRPr>
            </a:lvl4pPr>
            <a:lvl5pPr>
              <a:buNone/>
              <a:defRPr sz="1500" b="0">
                <a:solidFill>
                  <a:srgbClr val="65738A"/>
                </a:solidFill>
              </a:defRPr>
            </a:lvl5pPr>
            <a:lvl6pPr>
              <a:buNone/>
              <a:defRPr sz="1500" b="0">
                <a:solidFill>
                  <a:srgbClr val="65738A"/>
                </a:solidFill>
              </a:defRPr>
            </a:lvl6pPr>
            <a:lvl7pPr>
              <a:buNone/>
              <a:defRPr sz="1500" b="0">
                <a:solidFill>
                  <a:srgbClr val="65738A"/>
                </a:solidFill>
              </a:defRPr>
            </a:lvl7pPr>
            <a:lvl8pPr>
              <a:buNone/>
              <a:defRPr sz="1500" b="0">
                <a:solidFill>
                  <a:srgbClr val="65738A"/>
                </a:solidFill>
              </a:defRPr>
            </a:lvl8pPr>
            <a:lvl9pPr>
              <a:buNone/>
              <a:defRPr sz="1500" b="0">
                <a:solidFill>
                  <a:srgbClr val="65738A"/>
                </a:solidFill>
              </a:defRPr>
            </a:lvl9pPr>
          </a:lstStyle>
          <a:p xmlns:a="http://schemas.openxmlformats.org/drawingml/2006/main">
            <a:pPr>
              <a:buNone/>
              <a:defRPr sz="1500" b="0">
                <a:solidFill>
                  <a:srgbClr val="65738A"/>
                </a:solidFill>
              </a:defRPr>
            </a:pPr>
            <a:r>
              <a:rPr sz="1500" b="0">
                <a:solidFill>
                  <a:srgbClr val="65738A"/>
                </a:solidFill>
              </a:rPr>
              <a:t>observed policy issues</a:t>
            </a:r>
          </a:p>
        </p:txBody>
      </p:sp>
      <p:sp>
        <p:nvSpPr>
          <p:cNvPr id="8" name="Rectangle 7">
            <a:extLst xmlns:a="http://schemas.openxmlformats.org/drawingml/2006/main">
              <a:ext uri="{FF2B5EF4-FFF2-40B4-BE49-F238E27FC236}">
                <a16:creationId xmlns:a16="http://schemas.microsoft.com/office/drawing/2014/main" id="{6DE962F2-4D9E-4DCB-96AF-458FC646CFED}"/>
              </a:ext>
            </a:extLst>
          </p:cNvPr>
          <p:cNvSpPr>
            <a:spLocks xmlns:a="http://schemas.openxmlformats.org/drawingml/2006/main" noGrp="1"/>
          </p:cNvSpPr>
          <p:nvPr/>
        </p:nvSpPr>
        <p:spPr>
          <a:xfrm xmlns:a="http://schemas.openxmlformats.org/drawingml/2006/main">
            <a:off x="3667125" y="1457325"/>
            <a:ext cx="7239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75" b="1">
                <a:solidFill>
                  <a:srgbClr val="10203A"/>
                </a:solidFill>
              </a:defRPr>
            </a:defPPr>
            <a:lvl1pPr>
              <a:buNone/>
              <a:defRPr sz="1875" b="1">
                <a:solidFill>
                  <a:srgbClr val="10203A"/>
                </a:solidFill>
              </a:defRPr>
            </a:lvl1pPr>
            <a:lvl2pPr>
              <a:buNone/>
              <a:defRPr sz="1875" b="1">
                <a:solidFill>
                  <a:srgbClr val="10203A"/>
                </a:solidFill>
              </a:defRPr>
            </a:lvl2pPr>
            <a:lvl3pPr>
              <a:buNone/>
              <a:defRPr sz="1875" b="1">
                <a:solidFill>
                  <a:srgbClr val="10203A"/>
                </a:solidFill>
              </a:defRPr>
            </a:lvl3pPr>
            <a:lvl4pPr>
              <a:buNone/>
              <a:defRPr sz="1875" b="1">
                <a:solidFill>
                  <a:srgbClr val="10203A"/>
                </a:solidFill>
              </a:defRPr>
            </a:lvl4pPr>
            <a:lvl5pPr>
              <a:buNone/>
              <a:defRPr sz="1875" b="1">
                <a:solidFill>
                  <a:srgbClr val="10203A"/>
                </a:solidFill>
              </a:defRPr>
            </a:lvl5pPr>
            <a:lvl6pPr>
              <a:buNone/>
              <a:defRPr sz="1875" b="1">
                <a:solidFill>
                  <a:srgbClr val="10203A"/>
                </a:solidFill>
              </a:defRPr>
            </a:lvl6pPr>
            <a:lvl7pPr>
              <a:buNone/>
              <a:defRPr sz="1875" b="1">
                <a:solidFill>
                  <a:srgbClr val="10203A"/>
                </a:solidFill>
              </a:defRPr>
            </a:lvl7pPr>
            <a:lvl8pPr>
              <a:buNone/>
              <a:defRPr sz="1875" b="1">
                <a:solidFill>
                  <a:srgbClr val="10203A"/>
                </a:solidFill>
              </a:defRPr>
            </a:lvl8pPr>
            <a:lvl9pPr>
              <a:buNone/>
              <a:defRPr sz="1875" b="1">
                <a:solidFill>
                  <a:srgbClr val="10203A"/>
                </a:solidFill>
              </a:defRPr>
            </a:lvl9pPr>
          </a:lstStyle>
          <a:p xmlns:a="http://schemas.openxmlformats.org/drawingml/2006/main">
            <a:pPr>
              <a:buNone/>
              <a:defRPr sz="1875" b="1">
                <a:solidFill>
                  <a:srgbClr val="10203A"/>
                </a:solidFill>
              </a:defRPr>
            </a:pPr>
            <a:r>
              <a:rPr sz="1875" b="1">
                <a:solidFill>
                  <a:srgbClr val="10203A"/>
                </a:solidFill>
              </a:rPr>
              <a:t>Security problems detected</a:t>
            </a:r>
          </a:p>
        </p:txBody>
      </p:sp>
      <p:sp>
        <p:nvSpPr>
          <p:cNvPr id="9" name="Rectangle 8">
            <a:extLst xmlns:a="http://schemas.openxmlformats.org/drawingml/2006/main">
              <a:ext uri="{FF2B5EF4-FFF2-40B4-BE49-F238E27FC236}">
                <a16:creationId xmlns:a16="http://schemas.microsoft.com/office/drawing/2014/main" id="{418AF0BA-41C9-4274-9410-966DE454047E}"/>
              </a:ext>
            </a:extLst>
          </p:cNvPr>
          <p:cNvSpPr>
            <a:spLocks xmlns:a="http://schemas.openxmlformats.org/drawingml/2006/main" noGrp="1"/>
          </p:cNvSpPr>
          <p:nvPr/>
        </p:nvSpPr>
        <p:spPr>
          <a:xfrm xmlns:a="http://schemas.openxmlformats.org/drawingml/2006/main">
            <a:off x="3667125" y="1952625"/>
            <a:ext cx="7572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FTP 2121   Anonymous login accepted</a:t>
            </a:r>
          </a:p>
        </p:txBody>
      </p:sp>
      <p:sp>
        <p:nvSpPr>
          <p:cNvPr id="10" name="Rectangle 9">
            <a:extLst xmlns:a="http://schemas.openxmlformats.org/drawingml/2006/main">
              <a:ext uri="{FF2B5EF4-FFF2-40B4-BE49-F238E27FC236}">
                <a16:creationId xmlns:a16="http://schemas.microsoft.com/office/drawing/2014/main" id="{47AC1538-5339-4DE3-85C9-EB5C6B2A78F9}"/>
              </a:ext>
            </a:extLst>
          </p:cNvPr>
          <p:cNvSpPr>
            <a:spLocks xmlns:a="http://schemas.openxmlformats.org/drawingml/2006/main" noGrp="1"/>
          </p:cNvSpPr>
          <p:nvPr/>
        </p:nvSpPr>
        <p:spPr>
          <a:xfrm xmlns:a="http://schemas.openxmlformats.org/drawingml/2006/main">
            <a:off x="3667125" y="2409825"/>
            <a:ext cx="7572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SMB 1445   Guest access accepted</a:t>
            </a:r>
          </a:p>
        </p:txBody>
      </p:sp>
      <p:sp>
        <p:nvSpPr>
          <p:cNvPr id="11" name="Rectangle 10">
            <a:extLst xmlns:a="http://schemas.openxmlformats.org/drawingml/2006/main">
              <a:ext uri="{FF2B5EF4-FFF2-40B4-BE49-F238E27FC236}">
                <a16:creationId xmlns:a16="http://schemas.microsoft.com/office/drawing/2014/main" id="{AB996A1D-60F7-4958-9578-3CCEC0604D17}"/>
              </a:ext>
            </a:extLst>
          </p:cNvPr>
          <p:cNvSpPr>
            <a:spLocks xmlns:a="http://schemas.openxmlformats.org/drawingml/2006/main" noGrp="1"/>
          </p:cNvSpPr>
          <p:nvPr/>
        </p:nvSpPr>
        <p:spPr>
          <a:xfrm xmlns:a="http://schemas.openxmlformats.org/drawingml/2006/main">
            <a:off x="3667125" y="2867025"/>
            <a:ext cx="7572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SMB 1445 / 1446   Signing not enforced</a:t>
            </a:r>
          </a:p>
        </p:txBody>
      </p:sp>
      <p:sp>
        <p:nvSpPr>
          <p:cNvPr id="12" name="Rectangle 11">
            <a:extLst xmlns:a="http://schemas.openxmlformats.org/drawingml/2006/main">
              <a:ext uri="{FF2B5EF4-FFF2-40B4-BE49-F238E27FC236}">
                <a16:creationId xmlns:a16="http://schemas.microsoft.com/office/drawing/2014/main" id="{F0D425CC-5DD8-42D5-8E52-FDEF5E58FF70}"/>
              </a:ext>
            </a:extLst>
          </p:cNvPr>
          <p:cNvSpPr>
            <a:spLocks xmlns:a="http://schemas.openxmlformats.org/drawingml/2006/main" noGrp="1"/>
          </p:cNvSpPr>
          <p:nvPr/>
        </p:nvSpPr>
        <p:spPr>
          <a:xfrm xmlns:a="http://schemas.openxmlformats.org/drawingml/2006/main">
            <a:off x="3667125" y="3324225"/>
            <a:ext cx="7572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SSH 2222   A prohibited lab credential worked</a:t>
            </a:r>
          </a:p>
        </p:txBody>
      </p:sp>
      <p:sp>
        <p:nvSpPr>
          <p:cNvPr id="13" name="Rectangle 12">
            <a:extLst xmlns:a="http://schemas.openxmlformats.org/drawingml/2006/main">
              <a:ext uri="{FF2B5EF4-FFF2-40B4-BE49-F238E27FC236}">
                <a16:creationId xmlns:a16="http://schemas.microsoft.com/office/drawing/2014/main" id="{7BF26949-D3DA-4DF7-9896-207E14CCCE7A}"/>
              </a:ext>
            </a:extLst>
          </p:cNvPr>
          <p:cNvSpPr>
            <a:spLocks xmlns:a="http://schemas.openxmlformats.org/drawingml/2006/main" noGrp="1"/>
          </p:cNvSpPr>
          <p:nvPr/>
        </p:nvSpPr>
        <p:spPr>
          <a:xfrm xmlns:a="http://schemas.openxmlformats.org/drawingml/2006/main">
            <a:off x="685800" y="3733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7050C4"/>
                </a:solidFill>
              </a:defRPr>
            </a:defPPr>
            <a:lvl1pPr>
              <a:buNone/>
              <a:defRPr sz="1800" b="1">
                <a:solidFill>
                  <a:srgbClr val="7050C4"/>
                </a:solidFill>
              </a:defRPr>
            </a:lvl1pPr>
            <a:lvl2pPr>
              <a:buNone/>
              <a:defRPr sz="1800" b="1">
                <a:solidFill>
                  <a:srgbClr val="7050C4"/>
                </a:solidFill>
              </a:defRPr>
            </a:lvl2pPr>
            <a:lvl3pPr>
              <a:buNone/>
              <a:defRPr sz="1800" b="1">
                <a:solidFill>
                  <a:srgbClr val="7050C4"/>
                </a:solidFill>
              </a:defRPr>
            </a:lvl3pPr>
            <a:lvl4pPr>
              <a:buNone/>
              <a:defRPr sz="1800" b="1">
                <a:solidFill>
                  <a:srgbClr val="7050C4"/>
                </a:solidFill>
              </a:defRPr>
            </a:lvl4pPr>
            <a:lvl5pPr>
              <a:buNone/>
              <a:defRPr sz="1800" b="1">
                <a:solidFill>
                  <a:srgbClr val="7050C4"/>
                </a:solidFill>
              </a:defRPr>
            </a:lvl5pPr>
            <a:lvl6pPr>
              <a:buNone/>
              <a:defRPr sz="1800" b="1">
                <a:solidFill>
                  <a:srgbClr val="7050C4"/>
                </a:solidFill>
              </a:defRPr>
            </a:lvl6pPr>
            <a:lvl7pPr>
              <a:buNone/>
              <a:defRPr sz="1800" b="1">
                <a:solidFill>
                  <a:srgbClr val="7050C4"/>
                </a:solidFill>
              </a:defRPr>
            </a:lvl7pPr>
            <a:lvl8pPr>
              <a:buNone/>
              <a:defRPr sz="1800" b="1">
                <a:solidFill>
                  <a:srgbClr val="7050C4"/>
                </a:solidFill>
              </a:defRPr>
            </a:lvl8pPr>
            <a:lvl9pPr>
              <a:buNone/>
              <a:defRPr sz="1800" b="1">
                <a:solidFill>
                  <a:srgbClr val="7050C4"/>
                </a:solidFill>
              </a:defRPr>
            </a:lvl9pPr>
          </a:lstStyle>
          <a:p xmlns:a="http://schemas.openxmlformats.org/drawingml/2006/main">
            <a:pPr>
              <a:buNone/>
              <a:defRPr sz="1800" b="1">
                <a:solidFill>
                  <a:srgbClr val="7050C4"/>
                </a:solidFill>
              </a:defRPr>
            </a:pPr>
            <a:r>
              <a:rPr sz="1800" b="1">
                <a:solidFill>
                  <a:srgbClr val="7050C4"/>
                </a:solidFill>
              </a:rPr>
              <a:t>16 Redis CVE candidates</a:t>
            </a:r>
          </a:p>
        </p:txBody>
      </p:sp>
      <p:sp>
        <p:nvSpPr>
          <p:cNvPr id="14" name="Rectangle 13">
            <a:extLst xmlns:a="http://schemas.openxmlformats.org/drawingml/2006/main">
              <a:ext uri="{FF2B5EF4-FFF2-40B4-BE49-F238E27FC236}">
                <a16:creationId xmlns:a16="http://schemas.microsoft.com/office/drawing/2014/main" id="{75C0DC0F-CA6E-4921-B977-BAAE989A9239}"/>
              </a:ext>
            </a:extLst>
          </p:cNvPr>
          <p:cNvSpPr>
            <a:spLocks xmlns:a="http://schemas.openxmlformats.org/drawingml/2006/main" noGrp="1"/>
          </p:cNvSpPr>
          <p:nvPr/>
        </p:nvSpPr>
        <p:spPr>
          <a:xfrm xmlns:a="http://schemas.openxmlformats.org/drawingml/2006/main">
            <a:off x="685800" y="4143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Redis version matches require a package and patch check before CVE applicability is confirmed.</a:t>
            </a:r>
          </a:p>
        </p:txBody>
      </p:sp>
      <p:sp>
        <p:nvSpPr>
          <p:cNvPr id="15" name="Rectangle 14">
            <a:extLst xmlns:a="http://schemas.openxmlformats.org/drawingml/2006/main">
              <a:ext uri="{FF2B5EF4-FFF2-40B4-BE49-F238E27FC236}">
                <a16:creationId xmlns:a16="http://schemas.microsoft.com/office/drawing/2014/main" id="{1ECC5191-9EBB-41DC-9823-987813A0C3DE}"/>
              </a:ext>
            </a:extLst>
          </p:cNvPr>
          <p:cNvSpPr>
            <a:spLocks xmlns:a="http://schemas.openxmlformats.org/drawingml/2006/main" noGrp="1"/>
          </p:cNvSpPr>
          <p:nvPr/>
        </p:nvSpPr>
        <p:spPr>
          <a:xfrm xmlns:a="http://schemas.openxmlformats.org/drawingml/2006/main">
            <a:off x="685800" y="5191125"/>
            <a:ext cx="10096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0203A"/>
                </a:solidFill>
              </a:defRPr>
            </a:defPPr>
            <a:lvl1pPr>
              <a:buNone/>
              <a:defRPr sz="1575" b="1">
                <a:solidFill>
                  <a:srgbClr val="10203A"/>
                </a:solidFill>
              </a:defRPr>
            </a:lvl1pPr>
            <a:lvl2pPr>
              <a:buNone/>
              <a:defRPr sz="1575" b="1">
                <a:solidFill>
                  <a:srgbClr val="10203A"/>
                </a:solidFill>
              </a:defRPr>
            </a:lvl2pPr>
            <a:lvl3pPr>
              <a:buNone/>
              <a:defRPr sz="1575" b="1">
                <a:solidFill>
                  <a:srgbClr val="10203A"/>
                </a:solidFill>
              </a:defRPr>
            </a:lvl3pPr>
            <a:lvl4pPr>
              <a:buNone/>
              <a:defRPr sz="1575" b="1">
                <a:solidFill>
                  <a:srgbClr val="10203A"/>
                </a:solidFill>
              </a:defRPr>
            </a:lvl4pPr>
            <a:lvl5pPr>
              <a:buNone/>
              <a:defRPr sz="1575" b="1">
                <a:solidFill>
                  <a:srgbClr val="10203A"/>
                </a:solidFill>
              </a:defRPr>
            </a:lvl5pPr>
            <a:lvl6pPr>
              <a:buNone/>
              <a:defRPr sz="1575" b="1">
                <a:solidFill>
                  <a:srgbClr val="10203A"/>
                </a:solidFill>
              </a:defRPr>
            </a:lvl6pPr>
            <a:lvl7pPr>
              <a:buNone/>
              <a:defRPr sz="1575" b="1">
                <a:solidFill>
                  <a:srgbClr val="10203A"/>
                </a:solidFill>
              </a:defRPr>
            </a:lvl7pPr>
            <a:lvl8pPr>
              <a:buNone/>
              <a:defRPr sz="1575" b="1">
                <a:solidFill>
                  <a:srgbClr val="10203A"/>
                </a:solidFill>
              </a:defRPr>
            </a:lvl8pPr>
            <a:lvl9pPr>
              <a:buNone/>
              <a:defRPr sz="1575" b="1">
                <a:solidFill>
                  <a:srgbClr val="10203A"/>
                </a:solidFill>
              </a:defRPr>
            </a:lvl9pPr>
          </a:lstStyle>
          <a:p xmlns:a="http://schemas.openxmlformats.org/drawingml/2006/main">
            <a:pPr>
              <a:buNone/>
              <a:defRPr sz="1575" b="1">
                <a:solidFill>
                  <a:srgbClr val="10203A"/>
                </a:solidFill>
              </a:defRPr>
            </a:pPr>
            <a:r>
              <a:rPr sz="1575" b="1">
                <a:solidFill>
                  <a:srgbClr val="10203A"/>
                </a:solidFill>
              </a:rPr>
              <a:t>Action: restrict guest access, enforce signing and remove the weak credential. Retest each change.</a:t>
            </a:r>
          </a:p>
        </p:txBody>
      </p:sp>
    </p:spTree>
    <p:extLst>
      <p:ext uri="{BB962C8B-B14F-4D97-AF65-F5344CB8AC3E}">
        <p14:creationId xmlns:p14="http://schemas.microsoft.com/office/powerpoint/2010/main" val="478585847"/>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F1E2222-A42A-4EA1-BAE6-B5A4C55AE19A}"/>
              </a:ext>
            </a:extLst>
          </p:cNvPr>
          <p:cNvSpPr>
            <a:spLocks xmlns:a="http://schemas.openxmlformats.org/drawingml/2006/main" noGrp="1"/>
          </p:cNvSpPr>
          <p:nvPr/>
        </p:nvSpPr>
        <p:spPr>
          <a:xfrm xmlns:a="http://schemas.openxmlformats.org/drawingml/2006/main">
            <a:off x="628650" y="3524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125" b="1">
                <a:solidFill>
                  <a:srgbClr val="2458D7"/>
                </a:solidFill>
              </a:defRPr>
            </a:defPPr>
            <a:lvl1pPr>
              <a:buNone/>
              <a:defRPr sz="1125" b="1">
                <a:solidFill>
                  <a:srgbClr val="2458D7"/>
                </a:solidFill>
              </a:defRPr>
            </a:lvl1pPr>
            <a:lvl2pPr>
              <a:buNone/>
              <a:defRPr sz="1125" b="1">
                <a:solidFill>
                  <a:srgbClr val="2458D7"/>
                </a:solidFill>
              </a:defRPr>
            </a:lvl2pPr>
            <a:lvl3pPr>
              <a:buNone/>
              <a:defRPr sz="1125" b="1">
                <a:solidFill>
                  <a:srgbClr val="2458D7"/>
                </a:solidFill>
              </a:defRPr>
            </a:lvl3pPr>
            <a:lvl4pPr>
              <a:buNone/>
              <a:defRPr sz="1125" b="1">
                <a:solidFill>
                  <a:srgbClr val="2458D7"/>
                </a:solidFill>
              </a:defRPr>
            </a:lvl4pPr>
            <a:lvl5pPr>
              <a:buNone/>
              <a:defRPr sz="1125" b="1">
                <a:solidFill>
                  <a:srgbClr val="2458D7"/>
                </a:solidFill>
              </a:defRPr>
            </a:lvl5pPr>
            <a:lvl6pPr>
              <a:buNone/>
              <a:defRPr sz="1125" b="1">
                <a:solidFill>
                  <a:srgbClr val="2458D7"/>
                </a:solidFill>
              </a:defRPr>
            </a:lvl6pPr>
            <a:lvl7pPr>
              <a:buNone/>
              <a:defRPr sz="1125" b="1">
                <a:solidFill>
                  <a:srgbClr val="2458D7"/>
                </a:solidFill>
              </a:defRPr>
            </a:lvl7pPr>
            <a:lvl8pPr>
              <a:buNone/>
              <a:defRPr sz="1125" b="1">
                <a:solidFill>
                  <a:srgbClr val="2458D7"/>
                </a:solidFill>
              </a:defRPr>
            </a:lvl8pPr>
            <a:lvl9pPr>
              <a:buNone/>
              <a:defRPr sz="1125" b="1">
                <a:solidFill>
                  <a:srgbClr val="2458D7"/>
                </a:solidFill>
              </a:defRPr>
            </a:lvl9pPr>
          </a:lstStyle>
          <a:p xmlns:a="http://schemas.openxmlformats.org/drawingml/2006/main">
            <a:pPr>
              <a:buNone/>
              <a:defRPr sz="1125" b="1">
                <a:solidFill>
                  <a:srgbClr val="2458D7"/>
                </a:solidFill>
              </a:defRPr>
            </a:pPr>
            <a:r>
              <a:rPr sz="1125" b="1">
                <a:solidFill>
                  <a:srgbClr val="2458D7"/>
                </a:solidFill>
              </a:rPr>
              <a:t>IOT ENVIRONMENT</a:t>
            </a:r>
          </a:p>
        </p:txBody>
      </p:sp>
      <p:sp>
        <p:nvSpPr>
          <p:cNvPr id="3" name="Rectangle 2">
            <a:extLst xmlns:a="http://schemas.openxmlformats.org/drawingml/2006/main">
              <a:ext uri="{FF2B5EF4-FFF2-40B4-BE49-F238E27FC236}">
                <a16:creationId xmlns:a16="http://schemas.microsoft.com/office/drawing/2014/main" id="{FE7922FF-1285-4CDE-BF47-6A178D669042}"/>
              </a:ext>
            </a:extLst>
          </p:cNvPr>
          <p:cNvSpPr>
            <a:spLocks xmlns:a="http://schemas.openxmlformats.org/drawingml/2006/main" noGrp="1"/>
          </p:cNvSpPr>
          <p:nvPr/>
        </p:nvSpPr>
        <p:spPr>
          <a:xfrm xmlns:a="http://schemas.openxmlformats.org/drawingml/2006/main">
            <a:off x="628650" y="714375"/>
            <a:ext cx="10858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850" b="1">
                <a:solidFill>
                  <a:srgbClr val="10203A"/>
                </a:solidFill>
              </a:defRPr>
            </a:defPPr>
            <a:lvl1pPr>
              <a:buNone/>
              <a:defRPr sz="2850" b="1">
                <a:solidFill>
                  <a:srgbClr val="10203A"/>
                </a:solidFill>
              </a:defRPr>
            </a:lvl1pPr>
            <a:lvl2pPr>
              <a:buNone/>
              <a:defRPr sz="2850" b="1">
                <a:solidFill>
                  <a:srgbClr val="10203A"/>
                </a:solidFill>
              </a:defRPr>
            </a:lvl2pPr>
            <a:lvl3pPr>
              <a:buNone/>
              <a:defRPr sz="2850" b="1">
                <a:solidFill>
                  <a:srgbClr val="10203A"/>
                </a:solidFill>
              </a:defRPr>
            </a:lvl3pPr>
            <a:lvl4pPr>
              <a:buNone/>
              <a:defRPr sz="2850" b="1">
                <a:solidFill>
                  <a:srgbClr val="10203A"/>
                </a:solidFill>
              </a:defRPr>
            </a:lvl4pPr>
            <a:lvl5pPr>
              <a:buNone/>
              <a:defRPr sz="2850" b="1">
                <a:solidFill>
                  <a:srgbClr val="10203A"/>
                </a:solidFill>
              </a:defRPr>
            </a:lvl5pPr>
            <a:lvl6pPr>
              <a:buNone/>
              <a:defRPr sz="2850" b="1">
                <a:solidFill>
                  <a:srgbClr val="10203A"/>
                </a:solidFill>
              </a:defRPr>
            </a:lvl6pPr>
            <a:lvl7pPr>
              <a:buNone/>
              <a:defRPr sz="2850" b="1">
                <a:solidFill>
                  <a:srgbClr val="10203A"/>
                </a:solidFill>
              </a:defRPr>
            </a:lvl7pPr>
            <a:lvl8pPr>
              <a:buNone/>
              <a:defRPr sz="2850" b="1">
                <a:solidFill>
                  <a:srgbClr val="10203A"/>
                </a:solidFill>
              </a:defRPr>
            </a:lvl8pPr>
            <a:lvl9pPr>
              <a:buNone/>
              <a:defRPr sz="2850" b="1">
                <a:solidFill>
                  <a:srgbClr val="10203A"/>
                </a:solidFill>
              </a:defRPr>
            </a:lvl9pPr>
          </a:lstStyle>
          <a:p xmlns:a="http://schemas.openxmlformats.org/drawingml/2006/main">
            <a:pPr>
              <a:buNone/>
              <a:defRPr sz="2850" b="1">
                <a:solidFill>
                  <a:srgbClr val="10203A"/>
                </a:solidFill>
              </a:defRPr>
            </a:pPr>
            <a:r>
              <a:rPr sz="2850" b="1">
                <a:solidFill>
                  <a:srgbClr val="10203A"/>
                </a:solidFill>
              </a:rPr>
              <a:t>IoT network lab</a:t>
            </a:r>
          </a:p>
        </p:txBody>
      </p:sp>
      <p:sp>
        <p:nvSpPr>
          <p:cNvPr id="4" name="Rectangle 3">
            <a:extLst xmlns:a="http://schemas.openxmlformats.org/drawingml/2006/main">
              <a:ext uri="{FF2B5EF4-FFF2-40B4-BE49-F238E27FC236}">
                <a16:creationId xmlns:a16="http://schemas.microsoft.com/office/drawing/2014/main" id="{14B20BBF-53B1-4A1E-8B0E-F739A254F8E8}"/>
              </a:ext>
            </a:extLst>
          </p:cNvPr>
          <p:cNvSpPr>
            <a:spLocks xmlns:a="http://schemas.openxmlformats.org/drawingml/2006/main" noGrp="1"/>
          </p:cNvSpPr>
          <p:nvPr/>
        </p:nvSpPr>
        <p:spPr>
          <a:xfrm xmlns:a="http://schemas.openxmlformats.org/drawingml/2006/main">
            <a:off x="628650" y="64579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65738A"/>
                </a:solidFill>
              </a:defRPr>
            </a:defPPr>
            <a:lvl1pPr>
              <a:buNone/>
              <a:defRPr sz="975" b="0">
                <a:solidFill>
                  <a:srgbClr val="65738A"/>
                </a:solidFill>
              </a:defRPr>
            </a:lvl1pPr>
            <a:lvl2pPr>
              <a:buNone/>
              <a:defRPr sz="975" b="0">
                <a:solidFill>
                  <a:srgbClr val="65738A"/>
                </a:solidFill>
              </a:defRPr>
            </a:lvl2pPr>
            <a:lvl3pPr>
              <a:buNone/>
              <a:defRPr sz="975" b="0">
                <a:solidFill>
                  <a:srgbClr val="65738A"/>
                </a:solidFill>
              </a:defRPr>
            </a:lvl3pPr>
            <a:lvl4pPr>
              <a:buNone/>
              <a:defRPr sz="975" b="0">
                <a:solidFill>
                  <a:srgbClr val="65738A"/>
                </a:solidFill>
              </a:defRPr>
            </a:lvl4pPr>
            <a:lvl5pPr>
              <a:buNone/>
              <a:defRPr sz="975" b="0">
                <a:solidFill>
                  <a:srgbClr val="65738A"/>
                </a:solidFill>
              </a:defRPr>
            </a:lvl5pPr>
            <a:lvl6pPr>
              <a:buNone/>
              <a:defRPr sz="975" b="0">
                <a:solidFill>
                  <a:srgbClr val="65738A"/>
                </a:solidFill>
              </a:defRPr>
            </a:lvl6pPr>
            <a:lvl7pPr>
              <a:buNone/>
              <a:defRPr sz="975" b="0">
                <a:solidFill>
                  <a:srgbClr val="65738A"/>
                </a:solidFill>
              </a:defRPr>
            </a:lvl7pPr>
            <a:lvl8pPr>
              <a:buNone/>
              <a:defRPr sz="975" b="0">
                <a:solidFill>
                  <a:srgbClr val="65738A"/>
                </a:solidFill>
              </a:defRPr>
            </a:lvl8pPr>
            <a:lvl9pPr>
              <a:buNone/>
              <a:defRPr sz="975" b="0">
                <a:solidFill>
                  <a:srgbClr val="65738A"/>
                </a:solidFill>
              </a:defRPr>
            </a:lvl9pPr>
          </a:lstStyle>
          <a:p xmlns:a="http://schemas.openxmlformats.org/drawingml/2006/main">
            <a:pPr>
              <a:buNone/>
              <a:defRPr sz="975" b="0">
                <a:solidFill>
                  <a:srgbClr val="65738A"/>
                </a:solidFill>
              </a:defRPr>
            </a:pPr>
            <a:r>
              <a:rPr sz="975" b="0">
                <a:solidFill>
                  <a:srgbClr val="65738A"/>
                </a:solidFill>
              </a:rPr>
              <a:t>VulnAssess  /  Network environments</a:t>
            </a:r>
          </a:p>
        </p:txBody>
      </p:sp>
      <p:sp>
        <p:nvSpPr>
          <p:cNvPr id="5" name="Rectangle 4">
            <a:extLst xmlns:a="http://schemas.openxmlformats.org/drawingml/2006/main">
              <a:ext uri="{FF2B5EF4-FFF2-40B4-BE49-F238E27FC236}">
                <a16:creationId xmlns:a16="http://schemas.microsoft.com/office/drawing/2014/main" id="{C990FFD0-6EBE-46B8-ABE5-EFB46B47AA05}"/>
              </a:ext>
            </a:extLst>
          </p:cNvPr>
          <p:cNvSpPr>
            <a:spLocks xmlns:a="http://schemas.openxmlformats.org/drawingml/2006/main" noGrp="1"/>
          </p:cNvSpPr>
          <p:nvPr/>
        </p:nvSpPr>
        <p:spPr>
          <a:xfrm xmlns:a="http://schemas.openxmlformats.org/drawingml/2006/main">
            <a:off x="11049000" y="64484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1">
                <a:solidFill>
                  <a:srgbClr val="65738A"/>
                </a:solidFill>
              </a:defRPr>
            </a:defPPr>
            <a:lvl1pPr>
              <a:buNone/>
              <a:defRPr sz="975" b="1">
                <a:solidFill>
                  <a:srgbClr val="65738A"/>
                </a:solidFill>
              </a:defRPr>
            </a:lvl1pPr>
            <a:lvl2pPr>
              <a:buNone/>
              <a:defRPr sz="975" b="1">
                <a:solidFill>
                  <a:srgbClr val="65738A"/>
                </a:solidFill>
              </a:defRPr>
            </a:lvl2pPr>
            <a:lvl3pPr>
              <a:buNone/>
              <a:defRPr sz="975" b="1">
                <a:solidFill>
                  <a:srgbClr val="65738A"/>
                </a:solidFill>
              </a:defRPr>
            </a:lvl3pPr>
            <a:lvl4pPr>
              <a:buNone/>
              <a:defRPr sz="975" b="1">
                <a:solidFill>
                  <a:srgbClr val="65738A"/>
                </a:solidFill>
              </a:defRPr>
            </a:lvl4pPr>
            <a:lvl5pPr>
              <a:buNone/>
              <a:defRPr sz="975" b="1">
                <a:solidFill>
                  <a:srgbClr val="65738A"/>
                </a:solidFill>
              </a:defRPr>
            </a:lvl5pPr>
            <a:lvl6pPr>
              <a:buNone/>
              <a:defRPr sz="975" b="1">
                <a:solidFill>
                  <a:srgbClr val="65738A"/>
                </a:solidFill>
              </a:defRPr>
            </a:lvl6pPr>
            <a:lvl7pPr>
              <a:buNone/>
              <a:defRPr sz="975" b="1">
                <a:solidFill>
                  <a:srgbClr val="65738A"/>
                </a:solidFill>
              </a:defRPr>
            </a:lvl7pPr>
            <a:lvl8pPr>
              <a:buNone/>
              <a:defRPr sz="975" b="1">
                <a:solidFill>
                  <a:srgbClr val="65738A"/>
                </a:solidFill>
              </a:defRPr>
            </a:lvl8pPr>
            <a:lvl9pPr>
              <a:buNone/>
              <a:defRPr sz="975" b="1">
                <a:solidFill>
                  <a:srgbClr val="65738A"/>
                </a:solidFill>
              </a:defRPr>
            </a:lvl9pPr>
          </a:lstStyle>
          <a:p xmlns:a="http://schemas.openxmlformats.org/drawingml/2006/main">
            <a:pPr>
              <a:buNone/>
              <a:defRPr sz="975" b="1">
                <a:solidFill>
                  <a:srgbClr val="65738A"/>
                </a:solidFill>
              </a:defRPr>
            </a:pPr>
            <a:r>
              <a:rPr sz="975" b="1">
                <a:solidFill>
                  <a:srgbClr val="65738A"/>
                </a:solidFill>
              </a:rPr>
              <a:t>03</a:t>
            </a:r>
          </a:p>
        </p:txBody>
      </p:sp>
      <p:sp>
        <p:nvSpPr>
          <p:cNvPr id="6" name="Rectangle 5">
            <a:extLst xmlns:a="http://schemas.openxmlformats.org/drawingml/2006/main">
              <a:ext uri="{FF2B5EF4-FFF2-40B4-BE49-F238E27FC236}">
                <a16:creationId xmlns:a16="http://schemas.microsoft.com/office/drawing/2014/main" id="{3724DA3E-39A2-44C9-AEDA-7218B7C4D9A8}"/>
              </a:ext>
            </a:extLst>
          </p:cNvPr>
          <p:cNvSpPr>
            <a:spLocks xmlns:a="http://schemas.openxmlformats.org/drawingml/2006/main" noGrp="1"/>
          </p:cNvSpPr>
          <p:nvPr/>
        </p:nvSpPr>
        <p:spPr>
          <a:xfrm xmlns:a="http://schemas.openxmlformats.org/drawingml/2006/main">
            <a:off x="666750" y="1466850"/>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0">
                <a:solidFill>
                  <a:srgbClr val="34455C"/>
                </a:solidFill>
              </a:defRPr>
            </a:defPPr>
            <a:lvl1pPr>
              <a:buNone/>
              <a:defRPr sz="1800" b="0">
                <a:solidFill>
                  <a:srgbClr val="34455C"/>
                </a:solidFill>
              </a:defRPr>
            </a:lvl1pPr>
            <a:lvl2pPr>
              <a:buNone/>
              <a:defRPr sz="1800" b="0">
                <a:solidFill>
                  <a:srgbClr val="34455C"/>
                </a:solidFill>
              </a:defRPr>
            </a:lvl2pPr>
            <a:lvl3pPr>
              <a:buNone/>
              <a:defRPr sz="1800" b="0">
                <a:solidFill>
                  <a:srgbClr val="34455C"/>
                </a:solidFill>
              </a:defRPr>
            </a:lvl3pPr>
            <a:lvl4pPr>
              <a:buNone/>
              <a:defRPr sz="1800" b="0">
                <a:solidFill>
                  <a:srgbClr val="34455C"/>
                </a:solidFill>
              </a:defRPr>
            </a:lvl4pPr>
            <a:lvl5pPr>
              <a:buNone/>
              <a:defRPr sz="1800" b="0">
                <a:solidFill>
                  <a:srgbClr val="34455C"/>
                </a:solidFill>
              </a:defRPr>
            </a:lvl5pPr>
            <a:lvl6pPr>
              <a:buNone/>
              <a:defRPr sz="1800" b="0">
                <a:solidFill>
                  <a:srgbClr val="34455C"/>
                </a:solidFill>
              </a:defRPr>
            </a:lvl6pPr>
            <a:lvl7pPr>
              <a:buNone/>
              <a:defRPr sz="1800" b="0">
                <a:solidFill>
                  <a:srgbClr val="34455C"/>
                </a:solidFill>
              </a:defRPr>
            </a:lvl7pPr>
            <a:lvl8pPr>
              <a:buNone/>
              <a:defRPr sz="1800" b="0">
                <a:solidFill>
                  <a:srgbClr val="34455C"/>
                </a:solidFill>
              </a:defRPr>
            </a:lvl8pPr>
            <a:lvl9pPr>
              <a:buNone/>
              <a:defRPr sz="1800" b="0">
                <a:solidFill>
                  <a:srgbClr val="34455C"/>
                </a:solidFill>
              </a:defRPr>
            </a:lvl9pPr>
          </a:lstStyle>
          <a:p xmlns:a="http://schemas.openxmlformats.org/drawingml/2006/main">
            <a:pPr>
              <a:buNone/>
              <a:defRPr sz="1800" b="0">
                <a:solidFill>
                  <a:srgbClr val="34455C"/>
                </a:solidFill>
              </a:defRPr>
            </a:pPr>
            <a:r>
              <a:rPr sz="1800" b="0">
                <a:solidFill>
                  <a:srgbClr val="34455C"/>
                </a:solidFill>
              </a:rPr>
              <a:t>A simulated device network with real message traffic</a:t>
            </a:r>
          </a:p>
        </p:txBody>
      </p:sp>
      <p:sp>
        <p:nvSpPr>
          <p:cNvPr id="7" name="Rectangle 6">
            <a:extLst xmlns:a="http://schemas.openxmlformats.org/drawingml/2006/main">
              <a:ext uri="{FF2B5EF4-FFF2-40B4-BE49-F238E27FC236}">
                <a16:creationId xmlns:a16="http://schemas.microsoft.com/office/drawing/2014/main" id="{DC18BD60-81A3-4453-AEEF-2B5016024D36}"/>
              </a:ext>
            </a:extLst>
          </p:cNvPr>
          <p:cNvSpPr>
            <a:spLocks xmlns:a="http://schemas.openxmlformats.org/drawingml/2006/main" noGrp="1"/>
          </p:cNvSpPr>
          <p:nvPr/>
        </p:nvSpPr>
        <p:spPr>
          <a:xfrm xmlns:a="http://schemas.openxmlformats.org/drawingml/2006/main">
            <a:off x="666750" y="211455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10203A"/>
                </a:solidFill>
              </a:defRPr>
            </a:defPPr>
            <a:lvl1pPr>
              <a:buNone/>
              <a:defRPr sz="1725" b="1">
                <a:solidFill>
                  <a:srgbClr val="10203A"/>
                </a:solidFill>
              </a:defRPr>
            </a:lvl1pPr>
            <a:lvl2pPr>
              <a:buNone/>
              <a:defRPr sz="1725" b="1">
                <a:solidFill>
                  <a:srgbClr val="10203A"/>
                </a:solidFill>
              </a:defRPr>
            </a:lvl2pPr>
            <a:lvl3pPr>
              <a:buNone/>
              <a:defRPr sz="1725" b="1">
                <a:solidFill>
                  <a:srgbClr val="10203A"/>
                </a:solidFill>
              </a:defRPr>
            </a:lvl3pPr>
            <a:lvl4pPr>
              <a:buNone/>
              <a:defRPr sz="1725" b="1">
                <a:solidFill>
                  <a:srgbClr val="10203A"/>
                </a:solidFill>
              </a:defRPr>
            </a:lvl4pPr>
            <a:lvl5pPr>
              <a:buNone/>
              <a:defRPr sz="1725" b="1">
                <a:solidFill>
                  <a:srgbClr val="10203A"/>
                </a:solidFill>
              </a:defRPr>
            </a:lvl5pPr>
            <a:lvl6pPr>
              <a:buNone/>
              <a:defRPr sz="1725" b="1">
                <a:solidFill>
                  <a:srgbClr val="10203A"/>
                </a:solidFill>
              </a:defRPr>
            </a:lvl6pPr>
            <a:lvl7pPr>
              <a:buNone/>
              <a:defRPr sz="1725" b="1">
                <a:solidFill>
                  <a:srgbClr val="10203A"/>
                </a:solidFill>
              </a:defRPr>
            </a:lvl7pPr>
            <a:lvl8pPr>
              <a:buNone/>
              <a:defRPr sz="1725" b="1">
                <a:solidFill>
                  <a:srgbClr val="10203A"/>
                </a:solidFill>
              </a:defRPr>
            </a:lvl8pPr>
            <a:lvl9pPr>
              <a:buNone/>
              <a:defRPr sz="1725" b="1">
                <a:solidFill>
                  <a:srgbClr val="10203A"/>
                </a:solidFill>
              </a:defRPr>
            </a:lvl9pPr>
          </a:lstStyle>
          <a:p xmlns:a="http://schemas.openxmlformats.org/drawingml/2006/main">
            <a:pPr>
              <a:buNone/>
              <a:defRPr sz="1725" b="1">
                <a:solidFill>
                  <a:srgbClr val="10203A"/>
                </a:solidFill>
              </a:defRPr>
            </a:pPr>
            <a:r>
              <a:rPr sz="1725" b="1">
                <a:solidFill>
                  <a:srgbClr val="10203A"/>
                </a:solidFill>
              </a:rPr>
              <a:t>Telemetry</a:t>
            </a:r>
          </a:p>
        </p:txBody>
      </p:sp>
      <p:sp>
        <p:nvSpPr>
          <p:cNvPr id="8" name="Rectangle 7">
            <a:extLst xmlns:a="http://schemas.openxmlformats.org/drawingml/2006/main">
              <a:ext uri="{FF2B5EF4-FFF2-40B4-BE49-F238E27FC236}">
                <a16:creationId xmlns:a16="http://schemas.microsoft.com/office/drawing/2014/main" id="{2F0AF902-CE36-49E5-A4F8-375C8E5DD21C}"/>
              </a:ext>
            </a:extLst>
          </p:cNvPr>
          <p:cNvSpPr>
            <a:spLocks xmlns:a="http://schemas.openxmlformats.org/drawingml/2006/main" noGrp="1"/>
          </p:cNvSpPr>
          <p:nvPr/>
        </p:nvSpPr>
        <p:spPr>
          <a:xfrm xmlns:a="http://schemas.openxmlformats.org/drawingml/2006/main">
            <a:off x="2714625" y="211455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MQTT sensor messages and broker access</a:t>
            </a:r>
          </a:p>
        </p:txBody>
      </p:sp>
      <p:sp>
        <p:nvSpPr>
          <p:cNvPr id="9" name="Rectangle 8">
            <a:extLst xmlns:a="http://schemas.openxmlformats.org/drawingml/2006/main">
              <a:ext uri="{FF2B5EF4-FFF2-40B4-BE49-F238E27FC236}">
                <a16:creationId xmlns:a16="http://schemas.microsoft.com/office/drawing/2014/main" id="{C96E8AF1-214B-4758-BF81-F9432B4BAE41}"/>
              </a:ext>
            </a:extLst>
          </p:cNvPr>
          <p:cNvSpPr>
            <a:spLocks xmlns:a="http://schemas.openxmlformats.org/drawingml/2006/main" noGrp="1"/>
          </p:cNvSpPr>
          <p:nvPr/>
        </p:nvSpPr>
        <p:spPr>
          <a:xfrm xmlns:a="http://schemas.openxmlformats.org/drawingml/2006/main">
            <a:off x="666750" y="266700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10203A"/>
                </a:solidFill>
              </a:defRPr>
            </a:defPPr>
            <a:lvl1pPr>
              <a:buNone/>
              <a:defRPr sz="1725" b="1">
                <a:solidFill>
                  <a:srgbClr val="10203A"/>
                </a:solidFill>
              </a:defRPr>
            </a:lvl1pPr>
            <a:lvl2pPr>
              <a:buNone/>
              <a:defRPr sz="1725" b="1">
                <a:solidFill>
                  <a:srgbClr val="10203A"/>
                </a:solidFill>
              </a:defRPr>
            </a:lvl2pPr>
            <a:lvl3pPr>
              <a:buNone/>
              <a:defRPr sz="1725" b="1">
                <a:solidFill>
                  <a:srgbClr val="10203A"/>
                </a:solidFill>
              </a:defRPr>
            </a:lvl3pPr>
            <a:lvl4pPr>
              <a:buNone/>
              <a:defRPr sz="1725" b="1">
                <a:solidFill>
                  <a:srgbClr val="10203A"/>
                </a:solidFill>
              </a:defRPr>
            </a:lvl4pPr>
            <a:lvl5pPr>
              <a:buNone/>
              <a:defRPr sz="1725" b="1">
                <a:solidFill>
                  <a:srgbClr val="10203A"/>
                </a:solidFill>
              </a:defRPr>
            </a:lvl5pPr>
            <a:lvl6pPr>
              <a:buNone/>
              <a:defRPr sz="1725" b="1">
                <a:solidFill>
                  <a:srgbClr val="10203A"/>
                </a:solidFill>
              </a:defRPr>
            </a:lvl6pPr>
            <a:lvl7pPr>
              <a:buNone/>
              <a:defRPr sz="1725" b="1">
                <a:solidFill>
                  <a:srgbClr val="10203A"/>
                </a:solidFill>
              </a:defRPr>
            </a:lvl7pPr>
            <a:lvl8pPr>
              <a:buNone/>
              <a:defRPr sz="1725" b="1">
                <a:solidFill>
                  <a:srgbClr val="10203A"/>
                </a:solidFill>
              </a:defRPr>
            </a:lvl8pPr>
            <a:lvl9pPr>
              <a:buNone/>
              <a:defRPr sz="1725" b="1">
                <a:solidFill>
                  <a:srgbClr val="10203A"/>
                </a:solidFill>
              </a:defRPr>
            </a:lvl9pPr>
          </a:lstStyle>
          <a:p xmlns:a="http://schemas.openxmlformats.org/drawingml/2006/main">
            <a:pPr>
              <a:buNone/>
              <a:defRPr sz="1725" b="1">
                <a:solidFill>
                  <a:srgbClr val="10203A"/>
                </a:solidFill>
              </a:defRPr>
            </a:pPr>
            <a:r>
              <a:rPr sz="1725" b="1">
                <a:solidFill>
                  <a:srgbClr val="10203A"/>
                </a:solidFill>
              </a:rPr>
              <a:t>Monitoring</a:t>
            </a:r>
          </a:p>
        </p:txBody>
      </p:sp>
      <p:sp>
        <p:nvSpPr>
          <p:cNvPr id="10" name="Rectangle 9">
            <a:extLst xmlns:a="http://schemas.openxmlformats.org/drawingml/2006/main">
              <a:ext uri="{FF2B5EF4-FFF2-40B4-BE49-F238E27FC236}">
                <a16:creationId xmlns:a16="http://schemas.microsoft.com/office/drawing/2014/main" id="{7B6A118B-C9A7-4FF0-933F-516BF62C45B7}"/>
              </a:ext>
            </a:extLst>
          </p:cNvPr>
          <p:cNvSpPr>
            <a:spLocks xmlns:a="http://schemas.openxmlformats.org/drawingml/2006/main" noGrp="1"/>
          </p:cNvSpPr>
          <p:nvPr/>
        </p:nvSpPr>
        <p:spPr>
          <a:xfrm xmlns:a="http://schemas.openxmlformats.org/drawingml/2006/main">
            <a:off x="2714625" y="266700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SNMP device-management requests</a:t>
            </a:r>
          </a:p>
        </p:txBody>
      </p:sp>
      <p:sp>
        <p:nvSpPr>
          <p:cNvPr id="11" name="Rectangle 10">
            <a:extLst xmlns:a="http://schemas.openxmlformats.org/drawingml/2006/main">
              <a:ext uri="{FF2B5EF4-FFF2-40B4-BE49-F238E27FC236}">
                <a16:creationId xmlns:a16="http://schemas.microsoft.com/office/drawing/2014/main" id="{6F1C5698-BF9D-4DCC-A5B2-474E83FEA2F2}"/>
              </a:ext>
            </a:extLst>
          </p:cNvPr>
          <p:cNvSpPr>
            <a:spLocks xmlns:a="http://schemas.openxmlformats.org/drawingml/2006/main" noGrp="1"/>
          </p:cNvSpPr>
          <p:nvPr/>
        </p:nvSpPr>
        <p:spPr>
          <a:xfrm xmlns:a="http://schemas.openxmlformats.org/drawingml/2006/main">
            <a:off x="666750" y="321945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10203A"/>
                </a:solidFill>
              </a:defRPr>
            </a:defPPr>
            <a:lvl1pPr>
              <a:buNone/>
              <a:defRPr sz="1725" b="1">
                <a:solidFill>
                  <a:srgbClr val="10203A"/>
                </a:solidFill>
              </a:defRPr>
            </a:lvl1pPr>
            <a:lvl2pPr>
              <a:buNone/>
              <a:defRPr sz="1725" b="1">
                <a:solidFill>
                  <a:srgbClr val="10203A"/>
                </a:solidFill>
              </a:defRPr>
            </a:lvl2pPr>
            <a:lvl3pPr>
              <a:buNone/>
              <a:defRPr sz="1725" b="1">
                <a:solidFill>
                  <a:srgbClr val="10203A"/>
                </a:solidFill>
              </a:defRPr>
            </a:lvl3pPr>
            <a:lvl4pPr>
              <a:buNone/>
              <a:defRPr sz="1725" b="1">
                <a:solidFill>
                  <a:srgbClr val="10203A"/>
                </a:solidFill>
              </a:defRPr>
            </a:lvl4pPr>
            <a:lvl5pPr>
              <a:buNone/>
              <a:defRPr sz="1725" b="1">
                <a:solidFill>
                  <a:srgbClr val="10203A"/>
                </a:solidFill>
              </a:defRPr>
            </a:lvl5pPr>
            <a:lvl6pPr>
              <a:buNone/>
              <a:defRPr sz="1725" b="1">
                <a:solidFill>
                  <a:srgbClr val="10203A"/>
                </a:solidFill>
              </a:defRPr>
            </a:lvl6pPr>
            <a:lvl7pPr>
              <a:buNone/>
              <a:defRPr sz="1725" b="1">
                <a:solidFill>
                  <a:srgbClr val="10203A"/>
                </a:solidFill>
              </a:defRPr>
            </a:lvl7pPr>
            <a:lvl8pPr>
              <a:buNone/>
              <a:defRPr sz="1725" b="1">
                <a:solidFill>
                  <a:srgbClr val="10203A"/>
                </a:solidFill>
              </a:defRPr>
            </a:lvl8pPr>
            <a:lvl9pPr>
              <a:buNone/>
              <a:defRPr sz="1725" b="1">
                <a:solidFill>
                  <a:srgbClr val="10203A"/>
                </a:solidFill>
              </a:defRPr>
            </a:lvl9pPr>
          </a:lstStyle>
          <a:p xmlns:a="http://schemas.openxmlformats.org/drawingml/2006/main">
            <a:pPr>
              <a:buNone/>
              <a:defRPr sz="1725" b="1">
                <a:solidFill>
                  <a:srgbClr val="10203A"/>
                </a:solidFill>
              </a:defRPr>
            </a:pPr>
            <a:r>
              <a:rPr sz="1725" b="1">
                <a:solidFill>
                  <a:srgbClr val="10203A"/>
                </a:solidFill>
              </a:rPr>
              <a:t>Transport</a:t>
            </a:r>
          </a:p>
        </p:txBody>
      </p:sp>
      <p:sp>
        <p:nvSpPr>
          <p:cNvPr id="12" name="Rectangle 11">
            <a:extLst xmlns:a="http://schemas.openxmlformats.org/drawingml/2006/main">
              <a:ext uri="{FF2B5EF4-FFF2-40B4-BE49-F238E27FC236}">
                <a16:creationId xmlns:a16="http://schemas.microsoft.com/office/drawing/2014/main" id="{772E201C-A3EE-4D61-87AB-269A210F426C}"/>
              </a:ext>
            </a:extLst>
          </p:cNvPr>
          <p:cNvSpPr>
            <a:spLocks xmlns:a="http://schemas.openxmlformats.org/drawingml/2006/main" noGrp="1"/>
          </p:cNvSpPr>
          <p:nvPr/>
        </p:nvSpPr>
        <p:spPr>
          <a:xfrm xmlns:a="http://schemas.openxmlformats.org/drawingml/2006/main">
            <a:off x="2714625" y="321945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TLS certificate and trust checks</a:t>
            </a:r>
          </a:p>
        </p:txBody>
      </p:sp>
      <p:sp>
        <p:nvSpPr>
          <p:cNvPr id="13" name="Rectangle 12">
            <a:extLst xmlns:a="http://schemas.openxmlformats.org/drawingml/2006/main">
              <a:ext uri="{FF2B5EF4-FFF2-40B4-BE49-F238E27FC236}">
                <a16:creationId xmlns:a16="http://schemas.microsoft.com/office/drawing/2014/main" id="{EDA41282-12A7-42EC-AA5D-5E5B1BF3596F}"/>
              </a:ext>
            </a:extLst>
          </p:cNvPr>
          <p:cNvSpPr>
            <a:spLocks xmlns:a="http://schemas.openxmlformats.org/drawingml/2006/main" noGrp="1"/>
          </p:cNvSpPr>
          <p:nvPr/>
        </p:nvSpPr>
        <p:spPr>
          <a:xfrm xmlns:a="http://schemas.openxmlformats.org/drawingml/2006/main">
            <a:off x="666750" y="377190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10203A"/>
                </a:solidFill>
              </a:defRPr>
            </a:defPPr>
            <a:lvl1pPr>
              <a:buNone/>
              <a:defRPr sz="1725" b="1">
                <a:solidFill>
                  <a:srgbClr val="10203A"/>
                </a:solidFill>
              </a:defRPr>
            </a:lvl1pPr>
            <a:lvl2pPr>
              <a:buNone/>
              <a:defRPr sz="1725" b="1">
                <a:solidFill>
                  <a:srgbClr val="10203A"/>
                </a:solidFill>
              </a:defRPr>
            </a:lvl2pPr>
            <a:lvl3pPr>
              <a:buNone/>
              <a:defRPr sz="1725" b="1">
                <a:solidFill>
                  <a:srgbClr val="10203A"/>
                </a:solidFill>
              </a:defRPr>
            </a:lvl3pPr>
            <a:lvl4pPr>
              <a:buNone/>
              <a:defRPr sz="1725" b="1">
                <a:solidFill>
                  <a:srgbClr val="10203A"/>
                </a:solidFill>
              </a:defRPr>
            </a:lvl4pPr>
            <a:lvl5pPr>
              <a:buNone/>
              <a:defRPr sz="1725" b="1">
                <a:solidFill>
                  <a:srgbClr val="10203A"/>
                </a:solidFill>
              </a:defRPr>
            </a:lvl5pPr>
            <a:lvl6pPr>
              <a:buNone/>
              <a:defRPr sz="1725" b="1">
                <a:solidFill>
                  <a:srgbClr val="10203A"/>
                </a:solidFill>
              </a:defRPr>
            </a:lvl6pPr>
            <a:lvl7pPr>
              <a:buNone/>
              <a:defRPr sz="1725" b="1">
                <a:solidFill>
                  <a:srgbClr val="10203A"/>
                </a:solidFill>
              </a:defRPr>
            </a:lvl7pPr>
            <a:lvl8pPr>
              <a:buNone/>
              <a:defRPr sz="1725" b="1">
                <a:solidFill>
                  <a:srgbClr val="10203A"/>
                </a:solidFill>
              </a:defRPr>
            </a:lvl8pPr>
            <a:lvl9pPr>
              <a:buNone/>
              <a:defRPr sz="1725" b="1">
                <a:solidFill>
                  <a:srgbClr val="10203A"/>
                </a:solidFill>
              </a:defRPr>
            </a:lvl9pPr>
          </a:lstStyle>
          <a:p xmlns:a="http://schemas.openxmlformats.org/drawingml/2006/main">
            <a:pPr>
              <a:buNone/>
              <a:defRPr sz="1725" b="1">
                <a:solidFill>
                  <a:srgbClr val="10203A"/>
                </a:solidFill>
              </a:defRPr>
            </a:pPr>
            <a:r>
              <a:rPr sz="1725" b="1">
                <a:solidFill>
                  <a:srgbClr val="10203A"/>
                </a:solidFill>
              </a:rPr>
              <a:t>Assessment</a:t>
            </a:r>
          </a:p>
        </p:txBody>
      </p:sp>
      <p:sp>
        <p:nvSpPr>
          <p:cNvPr id="14" name="Rectangle 13">
            <a:extLst xmlns:a="http://schemas.openxmlformats.org/drawingml/2006/main">
              <a:ext uri="{FF2B5EF4-FFF2-40B4-BE49-F238E27FC236}">
                <a16:creationId xmlns:a16="http://schemas.microsoft.com/office/drawing/2014/main" id="{EACB389D-FB45-4A70-AEDE-C5EC7F9D8775}"/>
              </a:ext>
            </a:extLst>
          </p:cNvPr>
          <p:cNvSpPr>
            <a:spLocks xmlns:a="http://schemas.openxmlformats.org/drawingml/2006/main" noGrp="1"/>
          </p:cNvSpPr>
          <p:nvPr/>
        </p:nvSpPr>
        <p:spPr>
          <a:xfrm xmlns:a="http://schemas.openxmlformats.org/drawingml/2006/main">
            <a:off x="2714625" y="377190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Service discovery and evidence-based ranking</a:t>
            </a:r>
          </a:p>
        </p:txBody>
      </p:sp>
      <p:sp>
        <p:nvSpPr>
          <p:cNvPr id="15" name="Rectangle 14">
            <a:extLst xmlns:a="http://schemas.openxmlformats.org/drawingml/2006/main">
              <a:ext uri="{FF2B5EF4-FFF2-40B4-BE49-F238E27FC236}">
                <a16:creationId xmlns:a16="http://schemas.microsoft.com/office/drawing/2014/main" id="{079A71E1-9F60-4B3A-AD9E-5338F3D98643}"/>
              </a:ext>
            </a:extLst>
          </p:cNvPr>
          <p:cNvSpPr>
            <a:spLocks xmlns:a="http://schemas.openxmlformats.org/drawingml/2006/main" noGrp="1"/>
          </p:cNvSpPr>
          <p:nvPr/>
        </p:nvSpPr>
        <p:spPr>
          <a:xfrm xmlns:a="http://schemas.openxmlformats.org/drawingml/2006/main">
            <a:off x="8515350" y="1533525"/>
            <a:ext cx="304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200" b="1">
                <a:solidFill>
                  <a:srgbClr val="7050C4"/>
                </a:solidFill>
              </a:defRPr>
            </a:defPPr>
            <a:lvl1pPr>
              <a:buNone/>
              <a:defRPr sz="1200" b="1">
                <a:solidFill>
                  <a:srgbClr val="7050C4"/>
                </a:solidFill>
              </a:defRPr>
            </a:lvl1pPr>
            <a:lvl2pPr>
              <a:buNone/>
              <a:defRPr sz="1200" b="1">
                <a:solidFill>
                  <a:srgbClr val="7050C4"/>
                </a:solidFill>
              </a:defRPr>
            </a:lvl2pPr>
            <a:lvl3pPr>
              <a:buNone/>
              <a:defRPr sz="1200" b="1">
                <a:solidFill>
                  <a:srgbClr val="7050C4"/>
                </a:solidFill>
              </a:defRPr>
            </a:lvl3pPr>
            <a:lvl4pPr>
              <a:buNone/>
              <a:defRPr sz="1200" b="1">
                <a:solidFill>
                  <a:srgbClr val="7050C4"/>
                </a:solidFill>
              </a:defRPr>
            </a:lvl4pPr>
            <a:lvl5pPr>
              <a:buNone/>
              <a:defRPr sz="1200" b="1">
                <a:solidFill>
                  <a:srgbClr val="7050C4"/>
                </a:solidFill>
              </a:defRPr>
            </a:lvl5pPr>
            <a:lvl6pPr>
              <a:buNone/>
              <a:defRPr sz="1200" b="1">
                <a:solidFill>
                  <a:srgbClr val="7050C4"/>
                </a:solidFill>
              </a:defRPr>
            </a:lvl6pPr>
            <a:lvl7pPr>
              <a:buNone/>
              <a:defRPr sz="1200" b="1">
                <a:solidFill>
                  <a:srgbClr val="7050C4"/>
                </a:solidFill>
              </a:defRPr>
            </a:lvl7pPr>
            <a:lvl8pPr>
              <a:buNone/>
              <a:defRPr sz="1200" b="1">
                <a:solidFill>
                  <a:srgbClr val="7050C4"/>
                </a:solidFill>
              </a:defRPr>
            </a:lvl8pPr>
            <a:lvl9pPr>
              <a:buNone/>
              <a:defRPr sz="1200" b="1">
                <a:solidFill>
                  <a:srgbClr val="7050C4"/>
                </a:solidFill>
              </a:defRPr>
            </a:lvl9pPr>
          </a:lstStyle>
          <a:p xmlns:a="http://schemas.openxmlformats.org/drawingml/2006/main">
            <a:pPr>
              <a:buNone/>
              <a:defRPr sz="1200" b="1">
                <a:solidFill>
                  <a:srgbClr val="7050C4"/>
                </a:solidFill>
              </a:defRPr>
            </a:pPr>
            <a:r>
              <a:rPr sz="1200" b="1">
                <a:solidFill>
                  <a:srgbClr val="7050C4"/>
                </a:solidFill>
              </a:rPr>
              <a:t>HOW IT RUNS</a:t>
            </a:r>
          </a:p>
        </p:txBody>
      </p:sp>
      <p:sp>
        <p:nvSpPr>
          <p:cNvPr id="16" name="Rectangle 15">
            <a:extLst xmlns:a="http://schemas.openxmlformats.org/drawingml/2006/main">
              <a:ext uri="{FF2B5EF4-FFF2-40B4-BE49-F238E27FC236}">
                <a16:creationId xmlns:a16="http://schemas.microsoft.com/office/drawing/2014/main" id="{717173D8-5896-435F-A529-E0982AB4BB8A}"/>
              </a:ext>
            </a:extLst>
          </p:cNvPr>
          <p:cNvSpPr>
            <a:spLocks xmlns:a="http://schemas.openxmlformats.org/drawingml/2006/main" noGrp="1"/>
          </p:cNvSpPr>
          <p:nvPr/>
        </p:nvSpPr>
        <p:spPr>
          <a:xfrm xmlns:a="http://schemas.openxmlformats.org/drawingml/2006/main">
            <a:off x="8515350" y="19431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10203A"/>
                </a:solidFill>
              </a:defRPr>
            </a:defPPr>
            <a:lvl1pPr>
              <a:buNone/>
              <a:defRPr sz="1725" b="1">
                <a:solidFill>
                  <a:srgbClr val="10203A"/>
                </a:solidFill>
              </a:defRPr>
            </a:lvl1pPr>
            <a:lvl2pPr>
              <a:buNone/>
              <a:defRPr sz="1725" b="1">
                <a:solidFill>
                  <a:srgbClr val="10203A"/>
                </a:solidFill>
              </a:defRPr>
            </a:lvl2pPr>
            <a:lvl3pPr>
              <a:buNone/>
              <a:defRPr sz="1725" b="1">
                <a:solidFill>
                  <a:srgbClr val="10203A"/>
                </a:solidFill>
              </a:defRPr>
            </a:lvl3pPr>
            <a:lvl4pPr>
              <a:buNone/>
              <a:defRPr sz="1725" b="1">
                <a:solidFill>
                  <a:srgbClr val="10203A"/>
                </a:solidFill>
              </a:defRPr>
            </a:lvl4pPr>
            <a:lvl5pPr>
              <a:buNone/>
              <a:defRPr sz="1725" b="1">
                <a:solidFill>
                  <a:srgbClr val="10203A"/>
                </a:solidFill>
              </a:defRPr>
            </a:lvl5pPr>
            <a:lvl6pPr>
              <a:buNone/>
              <a:defRPr sz="1725" b="1">
                <a:solidFill>
                  <a:srgbClr val="10203A"/>
                </a:solidFill>
              </a:defRPr>
            </a:lvl6pPr>
            <a:lvl7pPr>
              <a:buNone/>
              <a:defRPr sz="1725" b="1">
                <a:solidFill>
                  <a:srgbClr val="10203A"/>
                </a:solidFill>
              </a:defRPr>
            </a:lvl7pPr>
            <a:lvl8pPr>
              <a:buNone/>
              <a:defRPr sz="1725" b="1">
                <a:solidFill>
                  <a:srgbClr val="10203A"/>
                </a:solidFill>
              </a:defRPr>
            </a:lvl8pPr>
            <a:lvl9pPr>
              <a:buNone/>
              <a:defRPr sz="1725" b="1">
                <a:solidFill>
                  <a:srgbClr val="10203A"/>
                </a:solidFill>
              </a:defRPr>
            </a:lvl9pPr>
          </a:lstStyle>
          <a:p xmlns:a="http://schemas.openxmlformats.org/drawingml/2006/main">
            <a:pPr>
              <a:buNone/>
              <a:defRPr sz="1725" b="1">
                <a:solidFill>
                  <a:srgbClr val="10203A"/>
                </a:solidFill>
              </a:defRPr>
            </a:pPr>
            <a:r>
              <a:rPr sz="1725" b="1">
                <a:solidFill>
                  <a:srgbClr val="10203A"/>
                </a:solidFill>
              </a:rPr>
              <a:t>Docker Desktop + WSL 2</a:t>
            </a:r>
          </a:p>
        </p:txBody>
      </p:sp>
      <p:sp>
        <p:nvSpPr>
          <p:cNvPr id="17" name="Rectangle 16">
            <a:extLst xmlns:a="http://schemas.openxmlformats.org/drawingml/2006/main">
              <a:ext uri="{FF2B5EF4-FFF2-40B4-BE49-F238E27FC236}">
                <a16:creationId xmlns:a16="http://schemas.microsoft.com/office/drawing/2014/main" id="{9265BAEF-FB38-4E5E-965D-80DA7665D967}"/>
              </a:ext>
            </a:extLst>
          </p:cNvPr>
          <p:cNvSpPr>
            <a:spLocks xmlns:a="http://schemas.openxmlformats.org/drawingml/2006/main" noGrp="1"/>
          </p:cNvSpPr>
          <p:nvPr/>
        </p:nvSpPr>
        <p:spPr>
          <a:xfrm xmlns:a="http://schemas.openxmlformats.org/drawingml/2006/main">
            <a:off x="8515350" y="2352675"/>
            <a:ext cx="285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An isolated container network uses the local gateway at 127.0.0.3.</a:t>
            </a:r>
          </a:p>
        </p:txBody>
      </p:sp>
      <p:sp>
        <p:nvSpPr>
          <p:cNvPr id="18" name="Rectangle 17">
            <a:extLst xmlns:a="http://schemas.openxmlformats.org/drawingml/2006/main">
              <a:ext uri="{FF2B5EF4-FFF2-40B4-BE49-F238E27FC236}">
                <a16:creationId xmlns:a16="http://schemas.microsoft.com/office/drawing/2014/main" id="{9CB05D72-12F6-4592-BB40-874AD9D52887}"/>
              </a:ext>
            </a:extLst>
          </p:cNvPr>
          <p:cNvSpPr>
            <a:spLocks xmlns:a="http://schemas.openxmlformats.org/drawingml/2006/main" noGrp="1"/>
          </p:cNvSpPr>
          <p:nvPr/>
        </p:nvSpPr>
        <p:spPr>
          <a:xfrm xmlns:a="http://schemas.openxmlformats.org/drawingml/2006/main">
            <a:off x="8515350" y="34861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275" b="1">
                <a:solidFill>
                  <a:srgbClr val="7050C4"/>
                </a:solidFill>
              </a:defRPr>
            </a:defPPr>
            <a:lvl1pPr>
              <a:buNone/>
              <a:defRPr sz="1275" b="1">
                <a:solidFill>
                  <a:srgbClr val="7050C4"/>
                </a:solidFill>
              </a:defRPr>
            </a:lvl1pPr>
            <a:lvl2pPr>
              <a:buNone/>
              <a:defRPr sz="1275" b="1">
                <a:solidFill>
                  <a:srgbClr val="7050C4"/>
                </a:solidFill>
              </a:defRPr>
            </a:lvl2pPr>
            <a:lvl3pPr>
              <a:buNone/>
              <a:defRPr sz="1275" b="1">
                <a:solidFill>
                  <a:srgbClr val="7050C4"/>
                </a:solidFill>
              </a:defRPr>
            </a:lvl3pPr>
            <a:lvl4pPr>
              <a:buNone/>
              <a:defRPr sz="1275" b="1">
                <a:solidFill>
                  <a:srgbClr val="7050C4"/>
                </a:solidFill>
              </a:defRPr>
            </a:lvl4pPr>
            <a:lvl5pPr>
              <a:buNone/>
              <a:defRPr sz="1275" b="1">
                <a:solidFill>
                  <a:srgbClr val="7050C4"/>
                </a:solidFill>
              </a:defRPr>
            </a:lvl5pPr>
            <a:lvl6pPr>
              <a:buNone/>
              <a:defRPr sz="1275" b="1">
                <a:solidFill>
                  <a:srgbClr val="7050C4"/>
                </a:solidFill>
              </a:defRPr>
            </a:lvl6pPr>
            <a:lvl7pPr>
              <a:buNone/>
              <a:defRPr sz="1275" b="1">
                <a:solidFill>
                  <a:srgbClr val="7050C4"/>
                </a:solidFill>
              </a:defRPr>
            </a:lvl7pPr>
            <a:lvl8pPr>
              <a:buNone/>
              <a:defRPr sz="1275" b="1">
                <a:solidFill>
                  <a:srgbClr val="7050C4"/>
                </a:solidFill>
              </a:defRPr>
            </a:lvl8pPr>
            <a:lvl9pPr>
              <a:buNone/>
              <a:defRPr sz="1275" b="1">
                <a:solidFill>
                  <a:srgbClr val="7050C4"/>
                </a:solidFill>
              </a:defRPr>
            </a:lvl9pPr>
          </a:lstStyle>
          <a:p xmlns:a="http://schemas.openxmlformats.org/drawingml/2006/main">
            <a:pPr>
              <a:buNone/>
              <a:defRPr sz="1275" b="1">
                <a:solidFill>
                  <a:srgbClr val="7050C4"/>
                </a:solidFill>
              </a:defRPr>
            </a:pPr>
            <a:r>
              <a:rPr sz="1275" b="1">
                <a:solidFill>
                  <a:srgbClr val="7050C4"/>
                </a:solidFill>
              </a:rPr>
              <a:t>Backend</a:t>
            </a:r>
          </a:p>
        </p:txBody>
      </p:sp>
      <p:sp>
        <p:nvSpPr>
          <p:cNvPr id="19" name="Rectangle 18">
            <a:extLst xmlns:a="http://schemas.openxmlformats.org/drawingml/2006/main">
              <a:ext uri="{FF2B5EF4-FFF2-40B4-BE49-F238E27FC236}">
                <a16:creationId xmlns:a16="http://schemas.microsoft.com/office/drawing/2014/main" id="{6F6D57FD-AF3B-4515-9E14-AFC46CDE08C3}"/>
              </a:ext>
            </a:extLst>
          </p:cNvPr>
          <p:cNvSpPr>
            <a:spLocks xmlns:a="http://schemas.openxmlformats.org/drawingml/2006/main" noGrp="1"/>
          </p:cNvSpPr>
          <p:nvPr/>
        </p:nvSpPr>
        <p:spPr>
          <a:xfrm xmlns:a="http://schemas.openxmlformats.org/drawingml/2006/main">
            <a:off x="8515350" y="3810000"/>
            <a:ext cx="285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34455C"/>
                </a:solidFill>
              </a:defRPr>
            </a:defPPr>
            <a:lvl1pPr>
              <a:buNone/>
              <a:defRPr sz="1500" b="0">
                <a:solidFill>
                  <a:srgbClr val="34455C"/>
                </a:solidFill>
              </a:defRPr>
            </a:lvl1pPr>
            <a:lvl2pPr>
              <a:buNone/>
              <a:defRPr sz="1500" b="0">
                <a:solidFill>
                  <a:srgbClr val="34455C"/>
                </a:solidFill>
              </a:defRPr>
            </a:lvl2pPr>
            <a:lvl3pPr>
              <a:buNone/>
              <a:defRPr sz="1500" b="0">
                <a:solidFill>
                  <a:srgbClr val="34455C"/>
                </a:solidFill>
              </a:defRPr>
            </a:lvl3pPr>
            <a:lvl4pPr>
              <a:buNone/>
              <a:defRPr sz="1500" b="0">
                <a:solidFill>
                  <a:srgbClr val="34455C"/>
                </a:solidFill>
              </a:defRPr>
            </a:lvl4pPr>
            <a:lvl5pPr>
              <a:buNone/>
              <a:defRPr sz="1500" b="0">
                <a:solidFill>
                  <a:srgbClr val="34455C"/>
                </a:solidFill>
              </a:defRPr>
            </a:lvl5pPr>
            <a:lvl6pPr>
              <a:buNone/>
              <a:defRPr sz="1500" b="0">
                <a:solidFill>
                  <a:srgbClr val="34455C"/>
                </a:solidFill>
              </a:defRPr>
            </a:lvl6pPr>
            <a:lvl7pPr>
              <a:buNone/>
              <a:defRPr sz="1500" b="0">
                <a:solidFill>
                  <a:srgbClr val="34455C"/>
                </a:solidFill>
              </a:defRPr>
            </a:lvl7pPr>
            <a:lvl8pPr>
              <a:buNone/>
              <a:defRPr sz="1500" b="0">
                <a:solidFill>
                  <a:srgbClr val="34455C"/>
                </a:solidFill>
              </a:defRPr>
            </a:lvl8pPr>
            <a:lvl9pPr>
              <a:buNone/>
              <a:defRPr sz="1500" b="0">
                <a:solidFill>
                  <a:srgbClr val="34455C"/>
                </a:solidFill>
              </a:defRPr>
            </a:lvl9pPr>
          </a:lstStyle>
          <a:p xmlns:a="http://schemas.openxmlformats.org/drawingml/2006/main">
            <a:pPr>
              <a:buNone/>
              <a:defRPr sz="1500" b="0">
                <a:solidFill>
                  <a:srgbClr val="34455C"/>
                </a:solidFill>
              </a:defRPr>
            </a:pPr>
            <a:r>
              <a:rPr sz="1500" b="0">
                <a:solidFill>
                  <a:srgbClr val="34455C"/>
                </a:solidFill>
              </a:rPr>
              <a:t>Python: aMQTT, PySNMP, TLS</a:t>
            </a:r>
          </a:p>
          <a:p xmlns:a="http://schemas.openxmlformats.org/drawingml/2006/main">
            <a:pPr>
              <a:buNone/>
              <a:defRPr sz="1500" b="0">
                <a:solidFill>
                  <a:srgbClr val="34455C"/>
                </a:solidFill>
              </a:defRPr>
            </a:pPr>
            <a:r>
              <a:rPr sz="1500" b="0">
                <a:solidFill>
                  <a:srgbClr val="34455C"/>
                </a:solidFill>
              </a:rPr>
              <a:t>Redis 7.0.12</a:t>
            </a:r>
          </a:p>
        </p:txBody>
      </p:sp>
      <p:sp>
        <p:nvSpPr>
          <p:cNvPr id="20" name="Rectangle 19">
            <a:extLst xmlns:a="http://schemas.openxmlformats.org/drawingml/2006/main">
              <a:ext uri="{FF2B5EF4-FFF2-40B4-BE49-F238E27FC236}">
                <a16:creationId xmlns:a16="http://schemas.microsoft.com/office/drawing/2014/main" id="{F070A66C-D2F6-4D9B-9F60-4119BB2A4563}"/>
              </a:ext>
            </a:extLst>
          </p:cNvPr>
          <p:cNvSpPr>
            <a:spLocks xmlns:a="http://schemas.openxmlformats.org/drawingml/2006/main" noGrp="1"/>
          </p:cNvSpPr>
          <p:nvPr/>
        </p:nvSpPr>
        <p:spPr>
          <a:xfrm xmlns:a="http://schemas.openxmlformats.org/drawingml/2006/main">
            <a:off x="666750" y="4762500"/>
            <a:ext cx="101917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VulnAssess checks broker access, management responses and certificate trust, then prioritizes the evidence.</a:t>
            </a:r>
          </a:p>
        </p:txBody>
      </p:sp>
    </p:spTree>
    <p:extLst>
      <p:ext uri="{BB962C8B-B14F-4D97-AF65-F5344CB8AC3E}">
        <p14:creationId xmlns:p14="http://schemas.microsoft.com/office/powerpoint/2010/main" val="1827892983"/>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DB0C1CA-FF90-4375-BA2E-2BDCDD92F001}"/>
              </a:ext>
            </a:extLst>
          </p:cNvPr>
          <p:cNvSpPr>
            <a:spLocks xmlns:a="http://schemas.openxmlformats.org/drawingml/2006/main" noGrp="1"/>
          </p:cNvSpPr>
          <p:nvPr/>
        </p:nvSpPr>
        <p:spPr>
          <a:xfrm xmlns:a="http://schemas.openxmlformats.org/drawingml/2006/main">
            <a:off x="628650" y="3524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125" b="1">
                <a:solidFill>
                  <a:srgbClr val="2458D7"/>
                </a:solidFill>
              </a:defRPr>
            </a:defPPr>
            <a:lvl1pPr>
              <a:buNone/>
              <a:defRPr sz="1125" b="1">
                <a:solidFill>
                  <a:srgbClr val="2458D7"/>
                </a:solidFill>
              </a:defRPr>
            </a:lvl1pPr>
            <a:lvl2pPr>
              <a:buNone/>
              <a:defRPr sz="1125" b="1">
                <a:solidFill>
                  <a:srgbClr val="2458D7"/>
                </a:solidFill>
              </a:defRPr>
            </a:lvl2pPr>
            <a:lvl3pPr>
              <a:buNone/>
              <a:defRPr sz="1125" b="1">
                <a:solidFill>
                  <a:srgbClr val="2458D7"/>
                </a:solidFill>
              </a:defRPr>
            </a:lvl3pPr>
            <a:lvl4pPr>
              <a:buNone/>
              <a:defRPr sz="1125" b="1">
                <a:solidFill>
                  <a:srgbClr val="2458D7"/>
                </a:solidFill>
              </a:defRPr>
            </a:lvl4pPr>
            <a:lvl5pPr>
              <a:buNone/>
              <a:defRPr sz="1125" b="1">
                <a:solidFill>
                  <a:srgbClr val="2458D7"/>
                </a:solidFill>
              </a:defRPr>
            </a:lvl5pPr>
            <a:lvl6pPr>
              <a:buNone/>
              <a:defRPr sz="1125" b="1">
                <a:solidFill>
                  <a:srgbClr val="2458D7"/>
                </a:solidFill>
              </a:defRPr>
            </a:lvl6pPr>
            <a:lvl7pPr>
              <a:buNone/>
              <a:defRPr sz="1125" b="1">
                <a:solidFill>
                  <a:srgbClr val="2458D7"/>
                </a:solidFill>
              </a:defRPr>
            </a:lvl7pPr>
            <a:lvl8pPr>
              <a:buNone/>
              <a:defRPr sz="1125" b="1">
                <a:solidFill>
                  <a:srgbClr val="2458D7"/>
                </a:solidFill>
              </a:defRPr>
            </a:lvl8pPr>
            <a:lvl9pPr>
              <a:buNone/>
              <a:defRPr sz="1125" b="1">
                <a:solidFill>
                  <a:srgbClr val="2458D7"/>
                </a:solidFill>
              </a:defRPr>
            </a:lvl9pPr>
          </a:lstStyle>
          <a:p xmlns:a="http://schemas.openxmlformats.org/drawingml/2006/main">
            <a:pPr>
              <a:buNone/>
              <a:defRPr sz="1125" b="1">
                <a:solidFill>
                  <a:srgbClr val="2458D7"/>
                </a:solidFill>
              </a:defRPr>
            </a:pPr>
            <a:r>
              <a:rPr sz="1125" b="1">
                <a:solidFill>
                  <a:srgbClr val="2458D7"/>
                </a:solidFill>
              </a:rPr>
              <a:t>IOT ENVIRONMENT</a:t>
            </a:r>
          </a:p>
        </p:txBody>
      </p:sp>
      <p:sp>
        <p:nvSpPr>
          <p:cNvPr id="3" name="Rectangle 2">
            <a:extLst xmlns:a="http://schemas.openxmlformats.org/drawingml/2006/main">
              <a:ext uri="{FF2B5EF4-FFF2-40B4-BE49-F238E27FC236}">
                <a16:creationId xmlns:a16="http://schemas.microsoft.com/office/drawing/2014/main" id="{FB86094A-2C01-4F7F-A530-129CA320FABB}"/>
              </a:ext>
            </a:extLst>
          </p:cNvPr>
          <p:cNvSpPr>
            <a:spLocks xmlns:a="http://schemas.openxmlformats.org/drawingml/2006/main" noGrp="1"/>
          </p:cNvSpPr>
          <p:nvPr/>
        </p:nvSpPr>
        <p:spPr>
          <a:xfrm xmlns:a="http://schemas.openxmlformats.org/drawingml/2006/main">
            <a:off x="628650" y="714375"/>
            <a:ext cx="10858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850" b="1">
                <a:solidFill>
                  <a:srgbClr val="10203A"/>
                </a:solidFill>
              </a:defRPr>
            </a:defPPr>
            <a:lvl1pPr>
              <a:buNone/>
              <a:defRPr sz="2850" b="1">
                <a:solidFill>
                  <a:srgbClr val="10203A"/>
                </a:solidFill>
              </a:defRPr>
            </a:lvl1pPr>
            <a:lvl2pPr>
              <a:buNone/>
              <a:defRPr sz="2850" b="1">
                <a:solidFill>
                  <a:srgbClr val="10203A"/>
                </a:solidFill>
              </a:defRPr>
            </a:lvl2pPr>
            <a:lvl3pPr>
              <a:buNone/>
              <a:defRPr sz="2850" b="1">
                <a:solidFill>
                  <a:srgbClr val="10203A"/>
                </a:solidFill>
              </a:defRPr>
            </a:lvl3pPr>
            <a:lvl4pPr>
              <a:buNone/>
              <a:defRPr sz="2850" b="1">
                <a:solidFill>
                  <a:srgbClr val="10203A"/>
                </a:solidFill>
              </a:defRPr>
            </a:lvl4pPr>
            <a:lvl5pPr>
              <a:buNone/>
              <a:defRPr sz="2850" b="1">
                <a:solidFill>
                  <a:srgbClr val="10203A"/>
                </a:solidFill>
              </a:defRPr>
            </a:lvl5pPr>
            <a:lvl6pPr>
              <a:buNone/>
              <a:defRPr sz="2850" b="1">
                <a:solidFill>
                  <a:srgbClr val="10203A"/>
                </a:solidFill>
              </a:defRPr>
            </a:lvl6pPr>
            <a:lvl7pPr>
              <a:buNone/>
              <a:defRPr sz="2850" b="1">
                <a:solidFill>
                  <a:srgbClr val="10203A"/>
                </a:solidFill>
              </a:defRPr>
            </a:lvl7pPr>
            <a:lvl8pPr>
              <a:buNone/>
              <a:defRPr sz="2850" b="1">
                <a:solidFill>
                  <a:srgbClr val="10203A"/>
                </a:solidFill>
              </a:defRPr>
            </a:lvl8pPr>
            <a:lvl9pPr>
              <a:buNone/>
              <a:defRPr sz="2850" b="1">
                <a:solidFill>
                  <a:srgbClr val="10203A"/>
                </a:solidFill>
              </a:defRPr>
            </a:lvl9pPr>
          </a:lstStyle>
          <a:p xmlns:a="http://schemas.openxmlformats.org/drawingml/2006/main">
            <a:pPr>
              <a:buNone/>
              <a:defRPr sz="2850" b="1">
                <a:solidFill>
                  <a:srgbClr val="10203A"/>
                </a:solidFill>
              </a:defRPr>
            </a:pPr>
            <a:r>
              <a:rPr sz="2850" b="1">
                <a:solidFill>
                  <a:srgbClr val="10203A"/>
                </a:solidFill>
              </a:rPr>
              <a:t>IoT network: what was found</a:t>
            </a:r>
          </a:p>
        </p:txBody>
      </p:sp>
      <p:sp>
        <p:nvSpPr>
          <p:cNvPr id="4" name="Rectangle 3">
            <a:extLst xmlns:a="http://schemas.openxmlformats.org/drawingml/2006/main">
              <a:ext uri="{FF2B5EF4-FFF2-40B4-BE49-F238E27FC236}">
                <a16:creationId xmlns:a16="http://schemas.microsoft.com/office/drawing/2014/main" id="{985AA75F-98F0-455B-BA47-D8BCFE27E0FA}"/>
              </a:ext>
            </a:extLst>
          </p:cNvPr>
          <p:cNvSpPr>
            <a:spLocks xmlns:a="http://schemas.openxmlformats.org/drawingml/2006/main" noGrp="1"/>
          </p:cNvSpPr>
          <p:nvPr/>
        </p:nvSpPr>
        <p:spPr>
          <a:xfrm xmlns:a="http://schemas.openxmlformats.org/drawingml/2006/main">
            <a:off x="628650" y="64579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65738A"/>
                </a:solidFill>
              </a:defRPr>
            </a:defPPr>
            <a:lvl1pPr>
              <a:buNone/>
              <a:defRPr sz="975" b="0">
                <a:solidFill>
                  <a:srgbClr val="65738A"/>
                </a:solidFill>
              </a:defRPr>
            </a:lvl1pPr>
            <a:lvl2pPr>
              <a:buNone/>
              <a:defRPr sz="975" b="0">
                <a:solidFill>
                  <a:srgbClr val="65738A"/>
                </a:solidFill>
              </a:defRPr>
            </a:lvl2pPr>
            <a:lvl3pPr>
              <a:buNone/>
              <a:defRPr sz="975" b="0">
                <a:solidFill>
                  <a:srgbClr val="65738A"/>
                </a:solidFill>
              </a:defRPr>
            </a:lvl3pPr>
            <a:lvl4pPr>
              <a:buNone/>
              <a:defRPr sz="975" b="0">
                <a:solidFill>
                  <a:srgbClr val="65738A"/>
                </a:solidFill>
              </a:defRPr>
            </a:lvl4pPr>
            <a:lvl5pPr>
              <a:buNone/>
              <a:defRPr sz="975" b="0">
                <a:solidFill>
                  <a:srgbClr val="65738A"/>
                </a:solidFill>
              </a:defRPr>
            </a:lvl5pPr>
            <a:lvl6pPr>
              <a:buNone/>
              <a:defRPr sz="975" b="0">
                <a:solidFill>
                  <a:srgbClr val="65738A"/>
                </a:solidFill>
              </a:defRPr>
            </a:lvl6pPr>
            <a:lvl7pPr>
              <a:buNone/>
              <a:defRPr sz="975" b="0">
                <a:solidFill>
                  <a:srgbClr val="65738A"/>
                </a:solidFill>
              </a:defRPr>
            </a:lvl7pPr>
            <a:lvl8pPr>
              <a:buNone/>
              <a:defRPr sz="975" b="0">
                <a:solidFill>
                  <a:srgbClr val="65738A"/>
                </a:solidFill>
              </a:defRPr>
            </a:lvl8pPr>
            <a:lvl9pPr>
              <a:buNone/>
              <a:defRPr sz="975" b="0">
                <a:solidFill>
                  <a:srgbClr val="65738A"/>
                </a:solidFill>
              </a:defRPr>
            </a:lvl9pPr>
          </a:lstStyle>
          <a:p xmlns:a="http://schemas.openxmlformats.org/drawingml/2006/main">
            <a:pPr>
              <a:buNone/>
              <a:defRPr sz="975" b="0">
                <a:solidFill>
                  <a:srgbClr val="65738A"/>
                </a:solidFill>
              </a:defRPr>
            </a:pPr>
            <a:r>
              <a:rPr sz="975" b="0">
                <a:solidFill>
                  <a:srgbClr val="65738A"/>
                </a:solidFill>
              </a:rPr>
              <a:t>VulnAssess  /  Network environments</a:t>
            </a:r>
          </a:p>
        </p:txBody>
      </p:sp>
      <p:sp>
        <p:nvSpPr>
          <p:cNvPr id="5" name="Rectangle 4">
            <a:extLst xmlns:a="http://schemas.openxmlformats.org/drawingml/2006/main">
              <a:ext uri="{FF2B5EF4-FFF2-40B4-BE49-F238E27FC236}">
                <a16:creationId xmlns:a16="http://schemas.microsoft.com/office/drawing/2014/main" id="{98D645BB-FA6C-4603-A6CA-08E159AA2B35}"/>
              </a:ext>
            </a:extLst>
          </p:cNvPr>
          <p:cNvSpPr>
            <a:spLocks xmlns:a="http://schemas.openxmlformats.org/drawingml/2006/main" noGrp="1"/>
          </p:cNvSpPr>
          <p:nvPr/>
        </p:nvSpPr>
        <p:spPr>
          <a:xfrm xmlns:a="http://schemas.openxmlformats.org/drawingml/2006/main">
            <a:off x="11049000" y="64484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1">
                <a:solidFill>
                  <a:srgbClr val="65738A"/>
                </a:solidFill>
              </a:defRPr>
            </a:defPPr>
            <a:lvl1pPr>
              <a:buNone/>
              <a:defRPr sz="975" b="1">
                <a:solidFill>
                  <a:srgbClr val="65738A"/>
                </a:solidFill>
              </a:defRPr>
            </a:lvl1pPr>
            <a:lvl2pPr>
              <a:buNone/>
              <a:defRPr sz="975" b="1">
                <a:solidFill>
                  <a:srgbClr val="65738A"/>
                </a:solidFill>
              </a:defRPr>
            </a:lvl2pPr>
            <a:lvl3pPr>
              <a:buNone/>
              <a:defRPr sz="975" b="1">
                <a:solidFill>
                  <a:srgbClr val="65738A"/>
                </a:solidFill>
              </a:defRPr>
            </a:lvl3pPr>
            <a:lvl4pPr>
              <a:buNone/>
              <a:defRPr sz="975" b="1">
                <a:solidFill>
                  <a:srgbClr val="65738A"/>
                </a:solidFill>
              </a:defRPr>
            </a:lvl4pPr>
            <a:lvl5pPr>
              <a:buNone/>
              <a:defRPr sz="975" b="1">
                <a:solidFill>
                  <a:srgbClr val="65738A"/>
                </a:solidFill>
              </a:defRPr>
            </a:lvl5pPr>
            <a:lvl6pPr>
              <a:buNone/>
              <a:defRPr sz="975" b="1">
                <a:solidFill>
                  <a:srgbClr val="65738A"/>
                </a:solidFill>
              </a:defRPr>
            </a:lvl6pPr>
            <a:lvl7pPr>
              <a:buNone/>
              <a:defRPr sz="975" b="1">
                <a:solidFill>
                  <a:srgbClr val="65738A"/>
                </a:solidFill>
              </a:defRPr>
            </a:lvl7pPr>
            <a:lvl8pPr>
              <a:buNone/>
              <a:defRPr sz="975" b="1">
                <a:solidFill>
                  <a:srgbClr val="65738A"/>
                </a:solidFill>
              </a:defRPr>
            </a:lvl8pPr>
            <a:lvl9pPr>
              <a:buNone/>
              <a:defRPr sz="975" b="1">
                <a:solidFill>
                  <a:srgbClr val="65738A"/>
                </a:solidFill>
              </a:defRPr>
            </a:lvl9pPr>
          </a:lstStyle>
          <a:p xmlns:a="http://schemas.openxmlformats.org/drawingml/2006/main">
            <a:pPr>
              <a:buNone/>
              <a:defRPr sz="975" b="1">
                <a:solidFill>
                  <a:srgbClr val="65738A"/>
                </a:solidFill>
              </a:defRPr>
            </a:pPr>
            <a:r>
              <a:rPr sz="975" b="1">
                <a:solidFill>
                  <a:srgbClr val="65738A"/>
                </a:solidFill>
              </a:rPr>
              <a:t>04</a:t>
            </a:r>
          </a:p>
        </p:txBody>
      </p:sp>
      <p:sp>
        <p:nvSpPr>
          <p:cNvPr id="6" name="Rectangle 5">
            <a:extLst xmlns:a="http://schemas.openxmlformats.org/drawingml/2006/main">
              <a:ext uri="{FF2B5EF4-FFF2-40B4-BE49-F238E27FC236}">
                <a16:creationId xmlns:a16="http://schemas.microsoft.com/office/drawing/2014/main" id="{BD9CE19A-6DB7-4CF5-B8EE-58C515A47D20}"/>
              </a:ext>
            </a:extLst>
          </p:cNvPr>
          <p:cNvSpPr>
            <a:spLocks xmlns:a="http://schemas.openxmlformats.org/drawingml/2006/main" noGrp="1"/>
          </p:cNvSpPr>
          <p:nvPr/>
        </p:nvSpPr>
        <p:spPr>
          <a:xfrm xmlns:a="http://schemas.openxmlformats.org/drawingml/2006/main">
            <a:off x="685800" y="1476375"/>
            <a:ext cx="138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5250" b="1">
                <a:solidFill>
                  <a:srgbClr val="2458D7"/>
                </a:solidFill>
              </a:defRPr>
            </a:defPPr>
            <a:lvl1pPr>
              <a:buNone/>
              <a:defRPr sz="5250" b="1">
                <a:solidFill>
                  <a:srgbClr val="2458D7"/>
                </a:solidFill>
              </a:defRPr>
            </a:lvl1pPr>
            <a:lvl2pPr>
              <a:buNone/>
              <a:defRPr sz="5250" b="1">
                <a:solidFill>
                  <a:srgbClr val="2458D7"/>
                </a:solidFill>
              </a:defRPr>
            </a:lvl2pPr>
            <a:lvl3pPr>
              <a:buNone/>
              <a:defRPr sz="5250" b="1">
                <a:solidFill>
                  <a:srgbClr val="2458D7"/>
                </a:solidFill>
              </a:defRPr>
            </a:lvl3pPr>
            <a:lvl4pPr>
              <a:buNone/>
              <a:defRPr sz="5250" b="1">
                <a:solidFill>
                  <a:srgbClr val="2458D7"/>
                </a:solidFill>
              </a:defRPr>
            </a:lvl4pPr>
            <a:lvl5pPr>
              <a:buNone/>
              <a:defRPr sz="5250" b="1">
                <a:solidFill>
                  <a:srgbClr val="2458D7"/>
                </a:solidFill>
              </a:defRPr>
            </a:lvl5pPr>
            <a:lvl6pPr>
              <a:buNone/>
              <a:defRPr sz="5250" b="1">
                <a:solidFill>
                  <a:srgbClr val="2458D7"/>
                </a:solidFill>
              </a:defRPr>
            </a:lvl6pPr>
            <a:lvl7pPr>
              <a:buNone/>
              <a:defRPr sz="5250" b="1">
                <a:solidFill>
                  <a:srgbClr val="2458D7"/>
                </a:solidFill>
              </a:defRPr>
            </a:lvl7pPr>
            <a:lvl8pPr>
              <a:buNone/>
              <a:defRPr sz="5250" b="1">
                <a:solidFill>
                  <a:srgbClr val="2458D7"/>
                </a:solidFill>
              </a:defRPr>
            </a:lvl8pPr>
            <a:lvl9pPr>
              <a:buNone/>
              <a:defRPr sz="5250" b="1">
                <a:solidFill>
                  <a:srgbClr val="2458D7"/>
                </a:solidFill>
              </a:defRPr>
            </a:lvl9pPr>
          </a:lstStyle>
          <a:p xmlns:a="http://schemas.openxmlformats.org/drawingml/2006/main">
            <a:pPr>
              <a:buNone/>
              <a:defRPr sz="5250" b="1">
                <a:solidFill>
                  <a:srgbClr val="2458D7"/>
                </a:solidFill>
              </a:defRPr>
            </a:pPr>
            <a:r>
              <a:rPr sz="5250" b="1">
                <a:solidFill>
                  <a:srgbClr val="2458D7"/>
                </a:solidFill>
              </a:rPr>
              <a:t>04</a:t>
            </a:r>
          </a:p>
        </p:txBody>
      </p:sp>
      <p:sp>
        <p:nvSpPr>
          <p:cNvPr id="7" name="Rectangle 6">
            <a:extLst xmlns:a="http://schemas.openxmlformats.org/drawingml/2006/main">
              <a:ext uri="{FF2B5EF4-FFF2-40B4-BE49-F238E27FC236}">
                <a16:creationId xmlns:a16="http://schemas.microsoft.com/office/drawing/2014/main" id="{CB2AD58F-A034-4EE8-9977-63A8358B78BC}"/>
              </a:ext>
            </a:extLst>
          </p:cNvPr>
          <p:cNvSpPr>
            <a:spLocks xmlns:a="http://schemas.openxmlformats.org/drawingml/2006/main" noGrp="1"/>
          </p:cNvSpPr>
          <p:nvPr/>
        </p:nvSpPr>
        <p:spPr>
          <a:xfrm xmlns:a="http://schemas.openxmlformats.org/drawingml/2006/main">
            <a:off x="704850" y="23812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65738A"/>
                </a:solidFill>
              </a:defRPr>
            </a:defPPr>
            <a:lvl1pPr>
              <a:buNone/>
              <a:defRPr sz="1500" b="0">
                <a:solidFill>
                  <a:srgbClr val="65738A"/>
                </a:solidFill>
              </a:defRPr>
            </a:lvl1pPr>
            <a:lvl2pPr>
              <a:buNone/>
              <a:defRPr sz="1500" b="0">
                <a:solidFill>
                  <a:srgbClr val="65738A"/>
                </a:solidFill>
              </a:defRPr>
            </a:lvl2pPr>
            <a:lvl3pPr>
              <a:buNone/>
              <a:defRPr sz="1500" b="0">
                <a:solidFill>
                  <a:srgbClr val="65738A"/>
                </a:solidFill>
              </a:defRPr>
            </a:lvl3pPr>
            <a:lvl4pPr>
              <a:buNone/>
              <a:defRPr sz="1500" b="0">
                <a:solidFill>
                  <a:srgbClr val="65738A"/>
                </a:solidFill>
              </a:defRPr>
            </a:lvl4pPr>
            <a:lvl5pPr>
              <a:buNone/>
              <a:defRPr sz="1500" b="0">
                <a:solidFill>
                  <a:srgbClr val="65738A"/>
                </a:solidFill>
              </a:defRPr>
            </a:lvl5pPr>
            <a:lvl6pPr>
              <a:buNone/>
              <a:defRPr sz="1500" b="0">
                <a:solidFill>
                  <a:srgbClr val="65738A"/>
                </a:solidFill>
              </a:defRPr>
            </a:lvl6pPr>
            <a:lvl7pPr>
              <a:buNone/>
              <a:defRPr sz="1500" b="0">
                <a:solidFill>
                  <a:srgbClr val="65738A"/>
                </a:solidFill>
              </a:defRPr>
            </a:lvl7pPr>
            <a:lvl8pPr>
              <a:buNone/>
              <a:defRPr sz="1500" b="0">
                <a:solidFill>
                  <a:srgbClr val="65738A"/>
                </a:solidFill>
              </a:defRPr>
            </a:lvl8pPr>
            <a:lvl9pPr>
              <a:buNone/>
              <a:defRPr sz="1500" b="0">
                <a:solidFill>
                  <a:srgbClr val="65738A"/>
                </a:solidFill>
              </a:defRPr>
            </a:lvl9pPr>
          </a:lstStyle>
          <a:p xmlns:a="http://schemas.openxmlformats.org/drawingml/2006/main">
            <a:pPr>
              <a:buNone/>
              <a:defRPr sz="1500" b="0">
                <a:solidFill>
                  <a:srgbClr val="65738A"/>
                </a:solidFill>
              </a:defRPr>
            </a:pPr>
            <a:r>
              <a:rPr sz="1500" b="0">
                <a:solidFill>
                  <a:srgbClr val="65738A"/>
                </a:solidFill>
              </a:rPr>
              <a:t>observed policy issues</a:t>
            </a:r>
          </a:p>
        </p:txBody>
      </p:sp>
      <p:sp>
        <p:nvSpPr>
          <p:cNvPr id="8" name="Rectangle 7">
            <a:extLst xmlns:a="http://schemas.openxmlformats.org/drawingml/2006/main">
              <a:ext uri="{FF2B5EF4-FFF2-40B4-BE49-F238E27FC236}">
                <a16:creationId xmlns:a16="http://schemas.microsoft.com/office/drawing/2014/main" id="{DE8E1A5A-97AA-4762-BA45-FDD83ACE1A75}"/>
              </a:ext>
            </a:extLst>
          </p:cNvPr>
          <p:cNvSpPr>
            <a:spLocks xmlns:a="http://schemas.openxmlformats.org/drawingml/2006/main" noGrp="1"/>
          </p:cNvSpPr>
          <p:nvPr/>
        </p:nvSpPr>
        <p:spPr>
          <a:xfrm xmlns:a="http://schemas.openxmlformats.org/drawingml/2006/main">
            <a:off x="3667125" y="1457325"/>
            <a:ext cx="7239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75" b="1">
                <a:solidFill>
                  <a:srgbClr val="10203A"/>
                </a:solidFill>
              </a:defRPr>
            </a:defPPr>
            <a:lvl1pPr>
              <a:buNone/>
              <a:defRPr sz="1875" b="1">
                <a:solidFill>
                  <a:srgbClr val="10203A"/>
                </a:solidFill>
              </a:defRPr>
            </a:lvl1pPr>
            <a:lvl2pPr>
              <a:buNone/>
              <a:defRPr sz="1875" b="1">
                <a:solidFill>
                  <a:srgbClr val="10203A"/>
                </a:solidFill>
              </a:defRPr>
            </a:lvl2pPr>
            <a:lvl3pPr>
              <a:buNone/>
              <a:defRPr sz="1875" b="1">
                <a:solidFill>
                  <a:srgbClr val="10203A"/>
                </a:solidFill>
              </a:defRPr>
            </a:lvl3pPr>
            <a:lvl4pPr>
              <a:buNone/>
              <a:defRPr sz="1875" b="1">
                <a:solidFill>
                  <a:srgbClr val="10203A"/>
                </a:solidFill>
              </a:defRPr>
            </a:lvl4pPr>
            <a:lvl5pPr>
              <a:buNone/>
              <a:defRPr sz="1875" b="1">
                <a:solidFill>
                  <a:srgbClr val="10203A"/>
                </a:solidFill>
              </a:defRPr>
            </a:lvl5pPr>
            <a:lvl6pPr>
              <a:buNone/>
              <a:defRPr sz="1875" b="1">
                <a:solidFill>
                  <a:srgbClr val="10203A"/>
                </a:solidFill>
              </a:defRPr>
            </a:lvl6pPr>
            <a:lvl7pPr>
              <a:buNone/>
              <a:defRPr sz="1875" b="1">
                <a:solidFill>
                  <a:srgbClr val="10203A"/>
                </a:solidFill>
              </a:defRPr>
            </a:lvl7pPr>
            <a:lvl8pPr>
              <a:buNone/>
              <a:defRPr sz="1875" b="1">
                <a:solidFill>
                  <a:srgbClr val="10203A"/>
                </a:solidFill>
              </a:defRPr>
            </a:lvl8pPr>
            <a:lvl9pPr>
              <a:buNone/>
              <a:defRPr sz="1875" b="1">
                <a:solidFill>
                  <a:srgbClr val="10203A"/>
                </a:solidFill>
              </a:defRPr>
            </a:lvl9pPr>
          </a:lstStyle>
          <a:p xmlns:a="http://schemas.openxmlformats.org/drawingml/2006/main">
            <a:pPr>
              <a:buNone/>
              <a:defRPr sz="1875" b="1">
                <a:solidFill>
                  <a:srgbClr val="10203A"/>
                </a:solidFill>
              </a:defRPr>
            </a:pPr>
            <a:r>
              <a:rPr sz="1875" b="1">
                <a:solidFill>
                  <a:srgbClr val="10203A"/>
                </a:solidFill>
              </a:rPr>
              <a:t>Security problems detected</a:t>
            </a:r>
          </a:p>
        </p:txBody>
      </p:sp>
      <p:sp>
        <p:nvSpPr>
          <p:cNvPr id="9" name="Rectangle 8">
            <a:extLst xmlns:a="http://schemas.openxmlformats.org/drawingml/2006/main">
              <a:ext uri="{FF2B5EF4-FFF2-40B4-BE49-F238E27FC236}">
                <a16:creationId xmlns:a16="http://schemas.microsoft.com/office/drawing/2014/main" id="{961722D0-FCC7-444C-A2E4-53E570649C1B}"/>
              </a:ext>
            </a:extLst>
          </p:cNvPr>
          <p:cNvSpPr>
            <a:spLocks xmlns:a="http://schemas.openxmlformats.org/drawingml/2006/main" noGrp="1"/>
          </p:cNvSpPr>
          <p:nvPr/>
        </p:nvSpPr>
        <p:spPr>
          <a:xfrm xmlns:a="http://schemas.openxmlformats.org/drawingml/2006/main">
            <a:off x="3667125" y="1952625"/>
            <a:ext cx="7572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MQTT 1883   Anonymous access accepted</a:t>
            </a:r>
          </a:p>
        </p:txBody>
      </p:sp>
      <p:sp>
        <p:nvSpPr>
          <p:cNvPr id="10" name="Rectangle 9">
            <a:extLst xmlns:a="http://schemas.openxmlformats.org/drawingml/2006/main">
              <a:ext uri="{FF2B5EF4-FFF2-40B4-BE49-F238E27FC236}">
                <a16:creationId xmlns:a16="http://schemas.microsoft.com/office/drawing/2014/main" id="{5361B7E6-DEBC-44C4-87B0-54A66AB74774}"/>
              </a:ext>
            </a:extLst>
          </p:cNvPr>
          <p:cNvSpPr>
            <a:spLocks xmlns:a="http://schemas.openxmlformats.org/drawingml/2006/main" noGrp="1"/>
          </p:cNvSpPr>
          <p:nvPr/>
        </p:nvSpPr>
        <p:spPr>
          <a:xfrm xmlns:a="http://schemas.openxmlformats.org/drawingml/2006/main">
            <a:off x="3667125" y="2409825"/>
            <a:ext cx="7572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SNMP 1161   Public community accepted</a:t>
            </a:r>
          </a:p>
        </p:txBody>
      </p:sp>
      <p:sp>
        <p:nvSpPr>
          <p:cNvPr id="11" name="Rectangle 10">
            <a:extLst xmlns:a="http://schemas.openxmlformats.org/drawingml/2006/main">
              <a:ext uri="{FF2B5EF4-FFF2-40B4-BE49-F238E27FC236}">
                <a16:creationId xmlns:a16="http://schemas.microsoft.com/office/drawing/2014/main" id="{CF16F059-DA3C-43B8-BB7C-B7A6F6D0E8FE}"/>
              </a:ext>
            </a:extLst>
          </p:cNvPr>
          <p:cNvSpPr>
            <a:spLocks xmlns:a="http://schemas.openxmlformats.org/drawingml/2006/main" noGrp="1"/>
          </p:cNvSpPr>
          <p:nvPr/>
        </p:nvSpPr>
        <p:spPr>
          <a:xfrm xmlns:a="http://schemas.openxmlformats.org/drawingml/2006/main">
            <a:off x="3667125" y="2867025"/>
            <a:ext cx="7572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TLS 8883   Certificate expired</a:t>
            </a:r>
          </a:p>
        </p:txBody>
      </p:sp>
      <p:sp>
        <p:nvSpPr>
          <p:cNvPr id="12" name="Rectangle 11">
            <a:extLst xmlns:a="http://schemas.openxmlformats.org/drawingml/2006/main">
              <a:ext uri="{FF2B5EF4-FFF2-40B4-BE49-F238E27FC236}">
                <a16:creationId xmlns:a16="http://schemas.microsoft.com/office/drawing/2014/main" id="{3D1C50E5-4CFE-48BE-B80F-47CC3DD3D954}"/>
              </a:ext>
            </a:extLst>
          </p:cNvPr>
          <p:cNvSpPr>
            <a:spLocks xmlns:a="http://schemas.openxmlformats.org/drawingml/2006/main" noGrp="1"/>
          </p:cNvSpPr>
          <p:nvPr/>
        </p:nvSpPr>
        <p:spPr>
          <a:xfrm xmlns:a="http://schemas.openxmlformats.org/drawingml/2006/main">
            <a:off x="3667125" y="3324225"/>
            <a:ext cx="7572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TLS 8883   Certificate trust check failed</a:t>
            </a:r>
          </a:p>
        </p:txBody>
      </p:sp>
      <p:sp>
        <p:nvSpPr>
          <p:cNvPr id="13" name="Rectangle 12">
            <a:extLst xmlns:a="http://schemas.openxmlformats.org/drawingml/2006/main">
              <a:ext uri="{FF2B5EF4-FFF2-40B4-BE49-F238E27FC236}">
                <a16:creationId xmlns:a16="http://schemas.microsoft.com/office/drawing/2014/main" id="{DFB5993E-DB39-438E-B4B4-EDEBE9A611DE}"/>
              </a:ext>
            </a:extLst>
          </p:cNvPr>
          <p:cNvSpPr>
            <a:spLocks xmlns:a="http://schemas.openxmlformats.org/drawingml/2006/main" noGrp="1"/>
          </p:cNvSpPr>
          <p:nvPr/>
        </p:nvSpPr>
        <p:spPr>
          <a:xfrm xmlns:a="http://schemas.openxmlformats.org/drawingml/2006/main">
            <a:off x="685800" y="38290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7050C4"/>
                </a:solidFill>
              </a:defRPr>
            </a:defPPr>
            <a:lvl1pPr>
              <a:buNone/>
              <a:defRPr sz="1800" b="1">
                <a:solidFill>
                  <a:srgbClr val="7050C4"/>
                </a:solidFill>
              </a:defRPr>
            </a:lvl1pPr>
            <a:lvl2pPr>
              <a:buNone/>
              <a:defRPr sz="1800" b="1">
                <a:solidFill>
                  <a:srgbClr val="7050C4"/>
                </a:solidFill>
              </a:defRPr>
            </a:lvl2pPr>
            <a:lvl3pPr>
              <a:buNone/>
              <a:defRPr sz="1800" b="1">
                <a:solidFill>
                  <a:srgbClr val="7050C4"/>
                </a:solidFill>
              </a:defRPr>
            </a:lvl3pPr>
            <a:lvl4pPr>
              <a:buNone/>
              <a:defRPr sz="1800" b="1">
                <a:solidFill>
                  <a:srgbClr val="7050C4"/>
                </a:solidFill>
              </a:defRPr>
            </a:lvl4pPr>
            <a:lvl5pPr>
              <a:buNone/>
              <a:defRPr sz="1800" b="1">
                <a:solidFill>
                  <a:srgbClr val="7050C4"/>
                </a:solidFill>
              </a:defRPr>
            </a:lvl5pPr>
            <a:lvl6pPr>
              <a:buNone/>
              <a:defRPr sz="1800" b="1">
                <a:solidFill>
                  <a:srgbClr val="7050C4"/>
                </a:solidFill>
              </a:defRPr>
            </a:lvl6pPr>
            <a:lvl7pPr>
              <a:buNone/>
              <a:defRPr sz="1800" b="1">
                <a:solidFill>
                  <a:srgbClr val="7050C4"/>
                </a:solidFill>
              </a:defRPr>
            </a:lvl7pPr>
            <a:lvl8pPr>
              <a:buNone/>
              <a:defRPr sz="1800" b="1">
                <a:solidFill>
                  <a:srgbClr val="7050C4"/>
                </a:solidFill>
              </a:defRPr>
            </a:lvl8pPr>
            <a:lvl9pPr>
              <a:buNone/>
              <a:defRPr sz="1800" b="1">
                <a:solidFill>
                  <a:srgbClr val="7050C4"/>
                </a:solidFill>
              </a:defRPr>
            </a:lvl9pPr>
          </a:lstStyle>
          <a:p xmlns:a="http://schemas.openxmlformats.org/drawingml/2006/main">
            <a:pPr>
              <a:buNone/>
              <a:defRPr sz="1800" b="1">
                <a:solidFill>
                  <a:srgbClr val="7050C4"/>
                </a:solidFill>
              </a:defRPr>
            </a:pPr>
            <a:r>
              <a:rPr sz="1800" b="1">
                <a:solidFill>
                  <a:srgbClr val="7050C4"/>
                </a:solidFill>
              </a:rPr>
              <a:t>14 Redis CVE candidates</a:t>
            </a:r>
          </a:p>
        </p:txBody>
      </p:sp>
      <p:sp>
        <p:nvSpPr>
          <p:cNvPr id="14" name="Rectangle 13">
            <a:extLst xmlns:a="http://schemas.openxmlformats.org/drawingml/2006/main">
              <a:ext uri="{FF2B5EF4-FFF2-40B4-BE49-F238E27FC236}">
                <a16:creationId xmlns:a16="http://schemas.microsoft.com/office/drawing/2014/main" id="{17BC8272-C762-4AE5-B104-55EEBE69D2F5}"/>
              </a:ext>
            </a:extLst>
          </p:cNvPr>
          <p:cNvSpPr>
            <a:spLocks xmlns:a="http://schemas.openxmlformats.org/drawingml/2006/main" noGrp="1"/>
          </p:cNvSpPr>
          <p:nvPr/>
        </p:nvSpPr>
        <p:spPr>
          <a:xfrm xmlns:a="http://schemas.openxmlformats.org/drawingml/2006/main">
            <a:off x="685800" y="42386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34455C"/>
                </a:solidFill>
              </a:defRPr>
            </a:defPPr>
            <a:lvl1pPr>
              <a:buNone/>
              <a:defRPr sz="1575" b="0">
                <a:solidFill>
                  <a:srgbClr val="34455C"/>
                </a:solidFill>
              </a:defRPr>
            </a:lvl1pPr>
            <a:lvl2pPr>
              <a:buNone/>
              <a:defRPr sz="1575" b="0">
                <a:solidFill>
                  <a:srgbClr val="34455C"/>
                </a:solidFill>
              </a:defRPr>
            </a:lvl2pPr>
            <a:lvl3pPr>
              <a:buNone/>
              <a:defRPr sz="1575" b="0">
                <a:solidFill>
                  <a:srgbClr val="34455C"/>
                </a:solidFill>
              </a:defRPr>
            </a:lvl3pPr>
            <a:lvl4pPr>
              <a:buNone/>
              <a:defRPr sz="1575" b="0">
                <a:solidFill>
                  <a:srgbClr val="34455C"/>
                </a:solidFill>
              </a:defRPr>
            </a:lvl4pPr>
            <a:lvl5pPr>
              <a:buNone/>
              <a:defRPr sz="1575" b="0">
                <a:solidFill>
                  <a:srgbClr val="34455C"/>
                </a:solidFill>
              </a:defRPr>
            </a:lvl5pPr>
            <a:lvl6pPr>
              <a:buNone/>
              <a:defRPr sz="1575" b="0">
                <a:solidFill>
                  <a:srgbClr val="34455C"/>
                </a:solidFill>
              </a:defRPr>
            </a:lvl6pPr>
            <a:lvl7pPr>
              <a:buNone/>
              <a:defRPr sz="1575" b="0">
                <a:solidFill>
                  <a:srgbClr val="34455C"/>
                </a:solidFill>
              </a:defRPr>
            </a:lvl7pPr>
            <a:lvl8pPr>
              <a:buNone/>
              <a:defRPr sz="1575" b="0">
                <a:solidFill>
                  <a:srgbClr val="34455C"/>
                </a:solidFill>
              </a:defRPr>
            </a:lvl8pPr>
            <a:lvl9pPr>
              <a:buNone/>
              <a:defRPr sz="1575" b="0">
                <a:solidFill>
                  <a:srgbClr val="34455C"/>
                </a:solidFill>
              </a:defRPr>
            </a:lvl9pPr>
          </a:lstStyle>
          <a:p xmlns:a="http://schemas.openxmlformats.org/drawingml/2006/main">
            <a:pPr>
              <a:buNone/>
              <a:defRPr sz="1575" b="0">
                <a:solidFill>
                  <a:srgbClr val="34455C"/>
                </a:solidFill>
              </a:defRPr>
            </a:pPr>
            <a:r>
              <a:rPr sz="1575" b="0">
                <a:solidFill>
                  <a:srgbClr val="34455C"/>
                </a:solidFill>
              </a:rPr>
              <a:t>Both labs use Redis. Version matches require verification; they are not confirmed exploits.</a:t>
            </a:r>
          </a:p>
        </p:txBody>
      </p:sp>
      <p:sp>
        <p:nvSpPr>
          <p:cNvPr id="15" name="Rectangle 14">
            <a:extLst xmlns:a="http://schemas.openxmlformats.org/drawingml/2006/main">
              <a:ext uri="{FF2B5EF4-FFF2-40B4-BE49-F238E27FC236}">
                <a16:creationId xmlns:a16="http://schemas.microsoft.com/office/drawing/2014/main" id="{E564293C-BFB9-47D3-938A-4A8B2670C0C9}"/>
              </a:ext>
            </a:extLst>
          </p:cNvPr>
          <p:cNvSpPr>
            <a:spLocks xmlns:a="http://schemas.openxmlformats.org/drawingml/2006/main" noGrp="1"/>
          </p:cNvSpPr>
          <p:nvPr/>
        </p:nvSpPr>
        <p:spPr>
          <a:xfrm xmlns:a="http://schemas.openxmlformats.org/drawingml/2006/main">
            <a:off x="685800" y="5257800"/>
            <a:ext cx="10096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0203A"/>
                </a:solidFill>
              </a:defRPr>
            </a:defPPr>
            <a:lvl1pPr>
              <a:buNone/>
              <a:defRPr sz="1575" b="1">
                <a:solidFill>
                  <a:srgbClr val="10203A"/>
                </a:solidFill>
              </a:defRPr>
            </a:lvl1pPr>
            <a:lvl2pPr>
              <a:buNone/>
              <a:defRPr sz="1575" b="1">
                <a:solidFill>
                  <a:srgbClr val="10203A"/>
                </a:solidFill>
              </a:defRPr>
            </a:lvl2pPr>
            <a:lvl3pPr>
              <a:buNone/>
              <a:defRPr sz="1575" b="1">
                <a:solidFill>
                  <a:srgbClr val="10203A"/>
                </a:solidFill>
              </a:defRPr>
            </a:lvl3pPr>
            <a:lvl4pPr>
              <a:buNone/>
              <a:defRPr sz="1575" b="1">
                <a:solidFill>
                  <a:srgbClr val="10203A"/>
                </a:solidFill>
              </a:defRPr>
            </a:lvl4pPr>
            <a:lvl5pPr>
              <a:buNone/>
              <a:defRPr sz="1575" b="1">
                <a:solidFill>
                  <a:srgbClr val="10203A"/>
                </a:solidFill>
              </a:defRPr>
            </a:lvl5pPr>
            <a:lvl6pPr>
              <a:buNone/>
              <a:defRPr sz="1575" b="1">
                <a:solidFill>
                  <a:srgbClr val="10203A"/>
                </a:solidFill>
              </a:defRPr>
            </a:lvl6pPr>
            <a:lvl7pPr>
              <a:buNone/>
              <a:defRPr sz="1575" b="1">
                <a:solidFill>
                  <a:srgbClr val="10203A"/>
                </a:solidFill>
              </a:defRPr>
            </a:lvl7pPr>
            <a:lvl8pPr>
              <a:buNone/>
              <a:defRPr sz="1575" b="1">
                <a:solidFill>
                  <a:srgbClr val="10203A"/>
                </a:solidFill>
              </a:defRPr>
            </a:lvl8pPr>
            <a:lvl9pPr>
              <a:buNone/>
              <a:defRPr sz="1575" b="1">
                <a:solidFill>
                  <a:srgbClr val="10203A"/>
                </a:solidFill>
              </a:defRPr>
            </a:lvl9pPr>
          </a:lstStyle>
          <a:p xmlns:a="http://schemas.openxmlformats.org/drawingml/2006/main">
            <a:pPr>
              <a:buNone/>
              <a:defRPr sz="1575" b="1">
                <a:solidFill>
                  <a:srgbClr val="10203A"/>
                </a:solidFill>
              </a:defRPr>
            </a:pPr>
            <a:r>
              <a:rPr sz="1575" b="1">
                <a:solidFill>
                  <a:srgbClr val="10203A"/>
                </a:solidFill>
              </a:rPr>
              <a:t>Action: restrict MQTT and SNMP access, replace the certificate, and retest.</a:t>
            </a:r>
          </a:p>
        </p:txBody>
      </p:sp>
    </p:spTree>
    <p:extLst>
      <p:ext uri="{BB962C8B-B14F-4D97-AF65-F5344CB8AC3E}">
        <p14:creationId xmlns:p14="http://schemas.microsoft.com/office/powerpoint/2010/main" val="8001661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549826F8-A666-4B17-BE9A-B3CE3CD91565}"/>
              </a:ext>
            </a:extLst>
          </p:cNvPr>
          <p:cNvPicPr>
            <a:picLocks xmlns:a="http://schemas.openxmlformats.org/drawingml/2006/main" noChangeAspect="1"/>
          </p:cNvPicPr>
          <p:nvPr/>
        </p:nvPicPr>
        <p:blipFill>
          <a:blip xmlns:r="http://schemas.openxmlformats.org/officeDocument/2006/relationships" xmlns:a="http://schemas.openxmlformats.org/drawingml/2006/main" r:embed="R6a5fdd48f9fe4398"/>
          <a:stretch xmlns:a="http://schemas.openxmlformats.org/drawingml/2006/main">
            <a:fillRect l="0" t="0" r="0" b="0"/>
          </a:stretch>
        </p:blipFill>
        <p:spPr>
          <a:xfrm xmlns:a="http://schemas.openxmlformats.org/drawingml/2006/main">
            <a:off x="523875" y="1714500"/>
            <a:ext cx="5238750" cy="4305300"/>
          </a:xfrm>
          <a:prstGeom xmlns:a="http://schemas.openxmlformats.org/drawingml/2006/main" prst="rect">
            <a:avLst/>
          </a:prstGeom>
        </p:spPr>
      </p:pic>
      <p:pic>
        <p:nvPicPr>
          <p:cNvPr id="5" name="Picture 4">
            <a:extLst xmlns:a="http://schemas.openxmlformats.org/drawingml/2006/main">
              <a:ext uri="{FF2B5EF4-FFF2-40B4-BE49-F238E27FC236}">
                <a16:creationId xmlns:a16="http://schemas.microsoft.com/office/drawing/2014/main" id="{54A93A09-0C2F-4E11-8A00-D86EC0060B5E}"/>
              </a:ext>
            </a:extLst>
          </p:cNvPr>
          <p:cNvPicPr>
            <a:picLocks xmlns:a="http://schemas.openxmlformats.org/drawingml/2006/main" noChangeAspect="1"/>
          </p:cNvPicPr>
          <p:nvPr/>
        </p:nvPicPr>
        <p:blipFill>
          <a:blip xmlns:r="http://schemas.openxmlformats.org/officeDocument/2006/relationships" xmlns:a="http://schemas.openxmlformats.org/drawingml/2006/main" r:embed="R5bf760ad4071407c"/>
          <a:stretch xmlns:a="http://schemas.openxmlformats.org/drawingml/2006/main">
            <a:fillRect l="0" t="0" r="0" b="0"/>
          </a:stretch>
        </p:blipFill>
        <p:spPr>
          <a:xfrm xmlns:a="http://schemas.openxmlformats.org/drawingml/2006/main">
            <a:off x="6238875" y="1714500"/>
            <a:ext cx="5429250" cy="4267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A727E18-C1B3-49F3-8012-65A9378F1763}"/>
              </a:ext>
            </a:extLst>
          </p:cNvPr>
          <p:cNvSpPr>
            <a:spLocks xmlns:a="http://schemas.openxmlformats.org/drawingml/2006/main" noGrp="1"/>
          </p:cNvSpPr>
          <p:nvPr/>
        </p:nvSpPr>
        <p:spPr>
          <a:xfrm xmlns:a="http://schemas.openxmlformats.org/drawingml/2006/main">
            <a:off x="523875" y="3619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10203A"/>
                </a:solidFill>
              </a:defRPr>
            </a:defPPr>
            <a:lvl1pPr>
              <a:defRPr sz="2700" b="1">
                <a:solidFill>
                  <a:srgbClr val="10203A"/>
                </a:solidFill>
              </a:defRPr>
            </a:lvl1pPr>
            <a:lvl2pPr>
              <a:defRPr sz="2700" b="1">
                <a:solidFill>
                  <a:srgbClr val="10203A"/>
                </a:solidFill>
              </a:defRPr>
            </a:lvl2pPr>
            <a:lvl3pPr>
              <a:defRPr sz="2700" b="1">
                <a:solidFill>
                  <a:srgbClr val="10203A"/>
                </a:solidFill>
              </a:defRPr>
            </a:lvl3pPr>
            <a:lvl4pPr>
              <a:defRPr sz="2700" b="1">
                <a:solidFill>
                  <a:srgbClr val="10203A"/>
                </a:solidFill>
              </a:defRPr>
            </a:lvl4pPr>
            <a:lvl5pPr>
              <a:defRPr sz="2700" b="1">
                <a:solidFill>
                  <a:srgbClr val="10203A"/>
                </a:solidFill>
              </a:defRPr>
            </a:lvl5pPr>
            <a:lvl6pPr>
              <a:defRPr sz="2700" b="1">
                <a:solidFill>
                  <a:srgbClr val="10203A"/>
                </a:solidFill>
              </a:defRPr>
            </a:lvl6pPr>
            <a:lvl7pPr>
              <a:defRPr sz="2700" b="1">
                <a:solidFill>
                  <a:srgbClr val="10203A"/>
                </a:solidFill>
              </a:defRPr>
            </a:lvl7pPr>
            <a:lvl8pPr>
              <a:defRPr sz="2700" b="1">
                <a:solidFill>
                  <a:srgbClr val="10203A"/>
                </a:solidFill>
              </a:defRPr>
            </a:lvl8pPr>
            <a:lvl9pPr>
              <a:defRPr sz="2700" b="1">
                <a:solidFill>
                  <a:srgbClr val="10203A"/>
                </a:solidFill>
              </a:defRPr>
            </a:lvl9pPr>
          </a:lstStyle>
          <a:p xmlns:a="http://schemas.openxmlformats.org/drawingml/2006/main">
            <a:pPr>
              <a:defRPr sz="2700" b="1">
                <a:solidFill>
                  <a:srgbClr val="10203A"/>
                </a:solidFill>
              </a:defRPr>
            </a:pPr>
            <a:r>
              <a:rPr sz="2700" b="1">
                <a:solidFill>
                  <a:srgbClr val="10203A"/>
                </a:solidFill>
              </a:rPr>
              <a:t>Office lab and assessment</a:t>
            </a:r>
          </a:p>
        </p:txBody>
      </p:sp>
      <p:sp>
        <p:nvSpPr>
          <p:cNvPr id="7" name="">
            <a:extLst xmlns:a="http://schemas.openxmlformats.org/drawingml/2006/main">
              <a:ext uri="{FF2B5EF4-FFF2-40B4-BE49-F238E27FC236}">
                <a16:creationId xmlns:a16="http://schemas.microsoft.com/office/drawing/2014/main" id="{69805D75-80D3-4C7B-A63F-9F81E5CD89D0}"/>
              </a:ext>
            </a:extLst>
          </p:cNvPr>
          <p:cNvSpPr>
            <a:spLocks xmlns:a="http://schemas.openxmlformats.org/drawingml/2006/main" noGrp="1"/>
          </p:cNvSpPr>
          <p:nvPr/>
        </p:nvSpPr>
        <p:spPr>
          <a:xfrm xmlns:a="http://schemas.openxmlformats.org/drawingml/2006/main">
            <a:off x="523875" y="123825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458D7"/>
                </a:solidFill>
              </a:defRPr>
            </a:defPPr>
            <a:lvl1pPr>
              <a:defRPr sz="1500" b="1">
                <a:solidFill>
                  <a:srgbClr val="2458D7"/>
                </a:solidFill>
              </a:defRPr>
            </a:lvl1pPr>
            <a:lvl2pPr>
              <a:defRPr sz="1500" b="1">
                <a:solidFill>
                  <a:srgbClr val="2458D7"/>
                </a:solidFill>
              </a:defRPr>
            </a:lvl2pPr>
            <a:lvl3pPr>
              <a:defRPr sz="1500" b="1">
                <a:solidFill>
                  <a:srgbClr val="2458D7"/>
                </a:solidFill>
              </a:defRPr>
            </a:lvl3pPr>
            <a:lvl4pPr>
              <a:defRPr sz="1500" b="1">
                <a:solidFill>
                  <a:srgbClr val="2458D7"/>
                </a:solidFill>
              </a:defRPr>
            </a:lvl4pPr>
            <a:lvl5pPr>
              <a:defRPr sz="1500" b="1">
                <a:solidFill>
                  <a:srgbClr val="2458D7"/>
                </a:solidFill>
              </a:defRPr>
            </a:lvl5pPr>
            <a:lvl6pPr>
              <a:defRPr sz="1500" b="1">
                <a:solidFill>
                  <a:srgbClr val="2458D7"/>
                </a:solidFill>
              </a:defRPr>
            </a:lvl6pPr>
            <a:lvl7pPr>
              <a:defRPr sz="1500" b="1">
                <a:solidFill>
                  <a:srgbClr val="2458D7"/>
                </a:solidFill>
              </a:defRPr>
            </a:lvl7pPr>
            <a:lvl8pPr>
              <a:defRPr sz="1500" b="1">
                <a:solidFill>
                  <a:srgbClr val="2458D7"/>
                </a:solidFill>
              </a:defRPr>
            </a:lvl8pPr>
            <a:lvl9pPr>
              <a:defRPr sz="1500" b="1">
                <a:solidFill>
                  <a:srgbClr val="2458D7"/>
                </a:solidFill>
              </a:defRPr>
            </a:lvl9pPr>
          </a:lstStyle>
          <a:p xmlns:a="http://schemas.openxmlformats.org/drawingml/2006/main">
            <a:pPr>
              <a:defRPr sz="1500" b="1">
                <a:solidFill>
                  <a:srgbClr val="2458D7"/>
                </a:solidFill>
              </a:defRPr>
            </a:pPr>
            <a:r>
              <a:rPr sz="1500" b="1">
                <a:solidFill>
                  <a:srgbClr val="2458D7"/>
                </a:solidFill>
              </a:rPr>
              <a:t>Lab interface</a:t>
            </a:r>
          </a:p>
        </p:txBody>
      </p:sp>
      <p:sp>
        <p:nvSpPr>
          <p:cNvPr id="8" name="">
            <a:extLst xmlns:a="http://schemas.openxmlformats.org/drawingml/2006/main">
              <a:ext uri="{FF2B5EF4-FFF2-40B4-BE49-F238E27FC236}">
                <a16:creationId xmlns:a16="http://schemas.microsoft.com/office/drawing/2014/main" id="{157CDECF-7791-437E-8299-CB6C2E0A2746}"/>
              </a:ext>
            </a:extLst>
          </p:cNvPr>
          <p:cNvSpPr>
            <a:spLocks xmlns:a="http://schemas.openxmlformats.org/drawingml/2006/main" noGrp="1"/>
          </p:cNvSpPr>
          <p:nvPr/>
        </p:nvSpPr>
        <p:spPr>
          <a:xfrm xmlns:a="http://schemas.openxmlformats.org/drawingml/2006/main">
            <a:off x="6238875" y="123825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458D7"/>
                </a:solidFill>
              </a:defRPr>
            </a:defPPr>
            <a:lvl1pPr>
              <a:defRPr sz="1500" b="1">
                <a:solidFill>
                  <a:srgbClr val="2458D7"/>
                </a:solidFill>
              </a:defRPr>
            </a:lvl1pPr>
            <a:lvl2pPr>
              <a:defRPr sz="1500" b="1">
                <a:solidFill>
                  <a:srgbClr val="2458D7"/>
                </a:solidFill>
              </a:defRPr>
            </a:lvl2pPr>
            <a:lvl3pPr>
              <a:defRPr sz="1500" b="1">
                <a:solidFill>
                  <a:srgbClr val="2458D7"/>
                </a:solidFill>
              </a:defRPr>
            </a:lvl3pPr>
            <a:lvl4pPr>
              <a:defRPr sz="1500" b="1">
                <a:solidFill>
                  <a:srgbClr val="2458D7"/>
                </a:solidFill>
              </a:defRPr>
            </a:lvl4pPr>
            <a:lvl5pPr>
              <a:defRPr sz="1500" b="1">
                <a:solidFill>
                  <a:srgbClr val="2458D7"/>
                </a:solidFill>
              </a:defRPr>
            </a:lvl5pPr>
            <a:lvl6pPr>
              <a:defRPr sz="1500" b="1">
                <a:solidFill>
                  <a:srgbClr val="2458D7"/>
                </a:solidFill>
              </a:defRPr>
            </a:lvl6pPr>
            <a:lvl7pPr>
              <a:defRPr sz="1500" b="1">
                <a:solidFill>
                  <a:srgbClr val="2458D7"/>
                </a:solidFill>
              </a:defRPr>
            </a:lvl7pPr>
            <a:lvl8pPr>
              <a:defRPr sz="1500" b="1">
                <a:solidFill>
                  <a:srgbClr val="2458D7"/>
                </a:solidFill>
              </a:defRPr>
            </a:lvl8pPr>
            <a:lvl9pPr>
              <a:defRPr sz="1500" b="1">
                <a:solidFill>
                  <a:srgbClr val="2458D7"/>
                </a:solidFill>
              </a:defRPr>
            </a:lvl9pPr>
          </a:lstStyle>
          <a:p xmlns:a="http://schemas.openxmlformats.org/drawingml/2006/main">
            <a:pPr>
              <a:defRPr sz="1500" b="1">
                <a:solidFill>
                  <a:srgbClr val="2458D7"/>
                </a:solidFill>
              </a:defRPr>
            </a:pPr>
            <a:r>
              <a:rPr sz="1500" b="1">
                <a:solidFill>
                  <a:srgbClr val="2458D7"/>
                </a:solidFill>
              </a:rPr>
              <a:t>Recorded findings</a:t>
            </a:r>
          </a:p>
        </p:txBody>
      </p:sp>
    </p:spTree>
    <p:extLst>
      <p:ext uri="{BB962C8B-B14F-4D97-AF65-F5344CB8AC3E}">
        <p14:creationId xmlns:p14="http://schemas.microsoft.com/office/powerpoint/2010/main" val="232781378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4" name="Picture 3">
            <a:extLst xmlns:a="http://schemas.openxmlformats.org/drawingml/2006/main">
              <a:ext uri="{FF2B5EF4-FFF2-40B4-BE49-F238E27FC236}">
                <a16:creationId xmlns:a16="http://schemas.microsoft.com/office/drawing/2014/main" id="{54EBB40D-E68E-4C3B-AC61-92008ED44B68}"/>
              </a:ext>
            </a:extLst>
          </p:cNvPr>
          <p:cNvPicPr>
            <a:picLocks xmlns:a="http://schemas.openxmlformats.org/drawingml/2006/main" noChangeAspect="1"/>
          </p:cNvPicPr>
          <p:nvPr/>
        </p:nvPicPr>
        <p:blipFill>
          <a:blip xmlns:r="http://schemas.openxmlformats.org/officeDocument/2006/relationships" xmlns:a="http://schemas.openxmlformats.org/drawingml/2006/main" r:embed="R742ef8544e524fd6"/>
          <a:stretch xmlns:a="http://schemas.openxmlformats.org/drawingml/2006/main">
            <a:fillRect l="0" t="0" r="0" b="0"/>
          </a:stretch>
        </p:blipFill>
        <p:spPr>
          <a:xfrm xmlns:a="http://schemas.openxmlformats.org/drawingml/2006/main">
            <a:off x="523875" y="1714500"/>
            <a:ext cx="5048250" cy="4410075"/>
          </a:xfrm>
          <a:prstGeom xmlns:a="http://schemas.openxmlformats.org/drawingml/2006/main" prst="rect">
            <a:avLst/>
          </a:prstGeom>
        </p:spPr>
      </p:pic>
      <p:pic>
        <p:nvPicPr>
          <p:cNvPr id="7" name="Picture 6">
            <a:extLst xmlns:a="http://schemas.openxmlformats.org/drawingml/2006/main">
              <a:ext uri="{FF2B5EF4-FFF2-40B4-BE49-F238E27FC236}">
                <a16:creationId xmlns:a16="http://schemas.microsoft.com/office/drawing/2014/main" id="{3BE1875F-6D6B-49F0-9729-F7C1D058234F}"/>
              </a:ext>
            </a:extLst>
          </p:cNvPr>
          <p:cNvPicPr>
            <a:picLocks xmlns:a="http://schemas.openxmlformats.org/drawingml/2006/main" noChangeAspect="1"/>
          </p:cNvPicPr>
          <p:nvPr/>
        </p:nvPicPr>
        <p:blipFill>
          <a:blip xmlns:r="http://schemas.openxmlformats.org/officeDocument/2006/relationships" xmlns:a="http://schemas.openxmlformats.org/drawingml/2006/main" r:embed="Rb1c4497cdf56481d"/>
          <a:stretch xmlns:a="http://schemas.openxmlformats.org/drawingml/2006/main">
            <a:fillRect l="0" t="0" r="0" b="0"/>
          </a:stretch>
        </p:blipFill>
        <p:spPr>
          <a:xfrm xmlns:a="http://schemas.openxmlformats.org/drawingml/2006/main">
            <a:off x="6238875" y="1714500"/>
            <a:ext cx="5238750" cy="44481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E160A02-D176-4AAE-A9ED-649DD2E403A7}"/>
              </a:ext>
            </a:extLst>
          </p:cNvPr>
          <p:cNvSpPr>
            <a:spLocks xmlns:a="http://schemas.openxmlformats.org/drawingml/2006/main" noGrp="1"/>
          </p:cNvSpPr>
          <p:nvPr/>
        </p:nvSpPr>
        <p:spPr>
          <a:xfrm xmlns:a="http://schemas.openxmlformats.org/drawingml/2006/main">
            <a:off x="523875" y="3619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10203A"/>
                </a:solidFill>
              </a:defRPr>
            </a:defPPr>
            <a:lvl1pPr>
              <a:defRPr sz="2700" b="1">
                <a:solidFill>
                  <a:srgbClr val="10203A"/>
                </a:solidFill>
              </a:defRPr>
            </a:lvl1pPr>
            <a:lvl2pPr>
              <a:defRPr sz="2700" b="1">
                <a:solidFill>
                  <a:srgbClr val="10203A"/>
                </a:solidFill>
              </a:defRPr>
            </a:lvl2pPr>
            <a:lvl3pPr>
              <a:defRPr sz="2700" b="1">
                <a:solidFill>
                  <a:srgbClr val="10203A"/>
                </a:solidFill>
              </a:defRPr>
            </a:lvl3pPr>
            <a:lvl4pPr>
              <a:defRPr sz="2700" b="1">
                <a:solidFill>
                  <a:srgbClr val="10203A"/>
                </a:solidFill>
              </a:defRPr>
            </a:lvl4pPr>
            <a:lvl5pPr>
              <a:defRPr sz="2700" b="1">
                <a:solidFill>
                  <a:srgbClr val="10203A"/>
                </a:solidFill>
              </a:defRPr>
            </a:lvl5pPr>
            <a:lvl6pPr>
              <a:defRPr sz="2700" b="1">
                <a:solidFill>
                  <a:srgbClr val="10203A"/>
                </a:solidFill>
              </a:defRPr>
            </a:lvl6pPr>
            <a:lvl7pPr>
              <a:defRPr sz="2700" b="1">
                <a:solidFill>
                  <a:srgbClr val="10203A"/>
                </a:solidFill>
              </a:defRPr>
            </a:lvl7pPr>
            <a:lvl8pPr>
              <a:defRPr sz="2700" b="1">
                <a:solidFill>
                  <a:srgbClr val="10203A"/>
                </a:solidFill>
              </a:defRPr>
            </a:lvl8pPr>
            <a:lvl9pPr>
              <a:defRPr sz="2700" b="1">
                <a:solidFill>
                  <a:srgbClr val="10203A"/>
                </a:solidFill>
              </a:defRPr>
            </a:lvl9pPr>
          </a:lstStyle>
          <a:p xmlns:a="http://schemas.openxmlformats.org/drawingml/2006/main">
            <a:pPr>
              <a:defRPr sz="2700" b="1">
                <a:solidFill>
                  <a:srgbClr val="10203A"/>
                </a:solidFill>
              </a:defRPr>
            </a:pPr>
            <a:r>
              <a:rPr sz="2700" b="1">
                <a:solidFill>
                  <a:srgbClr val="10203A"/>
                </a:solidFill>
              </a:rPr>
              <a:t>IoT lab and assessment</a:t>
            </a:r>
          </a:p>
        </p:txBody>
      </p:sp>
      <p:sp>
        <p:nvSpPr>
          <p:cNvPr id="9" name="">
            <a:extLst xmlns:a="http://schemas.openxmlformats.org/drawingml/2006/main">
              <a:ext uri="{FF2B5EF4-FFF2-40B4-BE49-F238E27FC236}">
                <a16:creationId xmlns:a16="http://schemas.microsoft.com/office/drawing/2014/main" id="{FEE0BCAE-F95D-44C1-B1D9-0E437AC46A25}"/>
              </a:ext>
            </a:extLst>
          </p:cNvPr>
          <p:cNvSpPr>
            <a:spLocks xmlns:a="http://schemas.openxmlformats.org/drawingml/2006/main" noGrp="1"/>
          </p:cNvSpPr>
          <p:nvPr/>
        </p:nvSpPr>
        <p:spPr>
          <a:xfrm xmlns:a="http://schemas.openxmlformats.org/drawingml/2006/main">
            <a:off x="523875" y="123825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458D7"/>
                </a:solidFill>
              </a:defRPr>
            </a:defPPr>
            <a:lvl1pPr>
              <a:defRPr sz="1500" b="1">
                <a:solidFill>
                  <a:srgbClr val="2458D7"/>
                </a:solidFill>
              </a:defRPr>
            </a:lvl1pPr>
            <a:lvl2pPr>
              <a:defRPr sz="1500" b="1">
                <a:solidFill>
                  <a:srgbClr val="2458D7"/>
                </a:solidFill>
              </a:defRPr>
            </a:lvl2pPr>
            <a:lvl3pPr>
              <a:defRPr sz="1500" b="1">
                <a:solidFill>
                  <a:srgbClr val="2458D7"/>
                </a:solidFill>
              </a:defRPr>
            </a:lvl3pPr>
            <a:lvl4pPr>
              <a:defRPr sz="1500" b="1">
                <a:solidFill>
                  <a:srgbClr val="2458D7"/>
                </a:solidFill>
              </a:defRPr>
            </a:lvl4pPr>
            <a:lvl5pPr>
              <a:defRPr sz="1500" b="1">
                <a:solidFill>
                  <a:srgbClr val="2458D7"/>
                </a:solidFill>
              </a:defRPr>
            </a:lvl5pPr>
            <a:lvl6pPr>
              <a:defRPr sz="1500" b="1">
                <a:solidFill>
                  <a:srgbClr val="2458D7"/>
                </a:solidFill>
              </a:defRPr>
            </a:lvl6pPr>
            <a:lvl7pPr>
              <a:defRPr sz="1500" b="1">
                <a:solidFill>
                  <a:srgbClr val="2458D7"/>
                </a:solidFill>
              </a:defRPr>
            </a:lvl7pPr>
            <a:lvl8pPr>
              <a:defRPr sz="1500" b="1">
                <a:solidFill>
                  <a:srgbClr val="2458D7"/>
                </a:solidFill>
              </a:defRPr>
            </a:lvl8pPr>
            <a:lvl9pPr>
              <a:defRPr sz="1500" b="1">
                <a:solidFill>
                  <a:srgbClr val="2458D7"/>
                </a:solidFill>
              </a:defRPr>
            </a:lvl9pPr>
          </a:lstStyle>
          <a:p xmlns:a="http://schemas.openxmlformats.org/drawingml/2006/main">
            <a:pPr>
              <a:defRPr sz="1500" b="1">
                <a:solidFill>
                  <a:srgbClr val="2458D7"/>
                </a:solidFill>
              </a:defRPr>
            </a:pPr>
            <a:r>
              <a:rPr sz="1500" b="1">
                <a:solidFill>
                  <a:srgbClr val="2458D7"/>
                </a:solidFill>
              </a:rPr>
              <a:t>Lab interface</a:t>
            </a:r>
          </a:p>
        </p:txBody>
      </p:sp>
      <p:sp>
        <p:nvSpPr>
          <p:cNvPr id="10" name="">
            <a:extLst xmlns:a="http://schemas.openxmlformats.org/drawingml/2006/main">
              <a:ext uri="{FF2B5EF4-FFF2-40B4-BE49-F238E27FC236}">
                <a16:creationId xmlns:a16="http://schemas.microsoft.com/office/drawing/2014/main" id="{05C7DC12-7B44-4DD3-9784-760A24B26BB2}"/>
              </a:ext>
            </a:extLst>
          </p:cNvPr>
          <p:cNvSpPr>
            <a:spLocks xmlns:a="http://schemas.openxmlformats.org/drawingml/2006/main" noGrp="1"/>
          </p:cNvSpPr>
          <p:nvPr/>
        </p:nvSpPr>
        <p:spPr>
          <a:xfrm xmlns:a="http://schemas.openxmlformats.org/drawingml/2006/main">
            <a:off x="6238875" y="123825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458D7"/>
                </a:solidFill>
              </a:defRPr>
            </a:defPPr>
            <a:lvl1pPr>
              <a:defRPr sz="1500" b="1">
                <a:solidFill>
                  <a:srgbClr val="2458D7"/>
                </a:solidFill>
              </a:defRPr>
            </a:lvl1pPr>
            <a:lvl2pPr>
              <a:defRPr sz="1500" b="1">
                <a:solidFill>
                  <a:srgbClr val="2458D7"/>
                </a:solidFill>
              </a:defRPr>
            </a:lvl2pPr>
            <a:lvl3pPr>
              <a:defRPr sz="1500" b="1">
                <a:solidFill>
                  <a:srgbClr val="2458D7"/>
                </a:solidFill>
              </a:defRPr>
            </a:lvl3pPr>
            <a:lvl4pPr>
              <a:defRPr sz="1500" b="1">
                <a:solidFill>
                  <a:srgbClr val="2458D7"/>
                </a:solidFill>
              </a:defRPr>
            </a:lvl4pPr>
            <a:lvl5pPr>
              <a:defRPr sz="1500" b="1">
                <a:solidFill>
                  <a:srgbClr val="2458D7"/>
                </a:solidFill>
              </a:defRPr>
            </a:lvl5pPr>
            <a:lvl6pPr>
              <a:defRPr sz="1500" b="1">
                <a:solidFill>
                  <a:srgbClr val="2458D7"/>
                </a:solidFill>
              </a:defRPr>
            </a:lvl6pPr>
            <a:lvl7pPr>
              <a:defRPr sz="1500" b="1">
                <a:solidFill>
                  <a:srgbClr val="2458D7"/>
                </a:solidFill>
              </a:defRPr>
            </a:lvl7pPr>
            <a:lvl8pPr>
              <a:defRPr sz="1500" b="1">
                <a:solidFill>
                  <a:srgbClr val="2458D7"/>
                </a:solidFill>
              </a:defRPr>
            </a:lvl8pPr>
            <a:lvl9pPr>
              <a:defRPr sz="1500" b="1">
                <a:solidFill>
                  <a:srgbClr val="2458D7"/>
                </a:solidFill>
              </a:defRPr>
            </a:lvl9pPr>
          </a:lstStyle>
          <a:p xmlns:a="http://schemas.openxmlformats.org/drawingml/2006/main">
            <a:pPr>
              <a:defRPr sz="1500" b="1">
                <a:solidFill>
                  <a:srgbClr val="2458D7"/>
                </a:solidFill>
              </a:defRPr>
            </a:pPr>
            <a:r>
              <a:rPr sz="1500" b="1">
                <a:solidFill>
                  <a:srgbClr val="2458D7"/>
                </a:solidFill>
              </a:rPr>
              <a:t>Recorded findings</a:t>
            </a:r>
          </a:p>
        </p:txBody>
      </p:sp>
    </p:spTree>
    <p:extLst>
      <p:ext uri="{BB962C8B-B14F-4D97-AF65-F5344CB8AC3E}">
        <p14:creationId xmlns:p14="http://schemas.microsoft.com/office/powerpoint/2010/main" val="40722432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2026-10-29T04:01:33.5550000Z</dcterms:created>
  <dcterms:modified xsi:type="dcterms:W3CDTF">2026-10-29T04:01:33.5550000Z</dcterms:modified>
</coreProperties>
</file>